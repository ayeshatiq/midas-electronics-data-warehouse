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Proxima Nova Bold" charset="1" panose="02000506030000020004"/>
      <p:regular r:id="rId27"/>
    </p:embeddedFont>
    <p:embeddedFont>
      <p:font typeface="Nunito" charset="1" panose="00000000000000000000"/>
      <p:regular r:id="rId28"/>
    </p:embeddedFont>
    <p:embeddedFont>
      <p:font typeface="DM Sans Bold" charset="1" panose="00000000000000000000"/>
      <p:regular r:id="rId29"/>
    </p:embeddedFont>
    <p:embeddedFont>
      <p:font typeface="DM Sans" charset="1" panose="00000000000000000000"/>
      <p:regular r:id="rId30"/>
    </p:embeddedFont>
    <p:embeddedFont>
      <p:font typeface="Nunito Bold" charset="1" panose="00000000000000000000"/>
      <p:regular r:id="rId31"/>
    </p:embeddedFont>
    <p:embeddedFont>
      <p:font typeface="Nunito Italics" charset="1" panose="0000000000000000000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95961" y="5935345"/>
            <a:ext cx="8126677" cy="8126677"/>
          </a:xfrm>
          <a:custGeom>
            <a:avLst/>
            <a:gdLst/>
            <a:ahLst/>
            <a:cxnLst/>
            <a:rect r="r" b="b" t="t" l="l"/>
            <a:pathLst>
              <a:path h="8126677" w="8126677">
                <a:moveTo>
                  <a:pt x="0" y="0"/>
                </a:moveTo>
                <a:lnTo>
                  <a:pt x="8126678" y="0"/>
                </a:lnTo>
                <a:lnTo>
                  <a:pt x="8126678" y="8126677"/>
                </a:lnTo>
                <a:lnTo>
                  <a:pt x="0" y="8126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50137" y="-174299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994970" y="-138782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97411" y="6636795"/>
            <a:ext cx="6723778" cy="6723778"/>
          </a:xfrm>
          <a:custGeom>
            <a:avLst/>
            <a:gdLst/>
            <a:ahLst/>
            <a:cxnLst/>
            <a:rect r="r" b="b" t="t" l="l"/>
            <a:pathLst>
              <a:path h="6723778" w="6723778">
                <a:moveTo>
                  <a:pt x="0" y="0"/>
                </a:moveTo>
                <a:lnTo>
                  <a:pt x="6723778" y="0"/>
                </a:lnTo>
                <a:lnTo>
                  <a:pt x="6723778" y="6723778"/>
                </a:lnTo>
                <a:lnTo>
                  <a:pt x="0" y="67237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876906" y="7616290"/>
            <a:ext cx="4764788" cy="476478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499020" y="-891876"/>
            <a:ext cx="2412567" cy="241256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920469" y="3178174"/>
            <a:ext cx="12447062" cy="1965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99"/>
              </a:lnSpc>
            </a:pPr>
            <a:r>
              <a:rPr lang="en-US" b="true" sz="114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PRESENTATION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854559" y="5143500"/>
            <a:ext cx="6578882" cy="1023974"/>
            <a:chOff x="0" y="0"/>
            <a:chExt cx="1732710" cy="2696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32710" cy="269689"/>
            </a:xfrm>
            <a:custGeom>
              <a:avLst/>
              <a:gdLst/>
              <a:ahLst/>
              <a:cxnLst/>
              <a:rect r="r" b="b" t="t" l="l"/>
              <a:pathLst>
                <a:path h="269689" w="1732710">
                  <a:moveTo>
                    <a:pt x="60016" y="0"/>
                  </a:moveTo>
                  <a:lnTo>
                    <a:pt x="1672694" y="0"/>
                  </a:lnTo>
                  <a:cubicBezTo>
                    <a:pt x="1688611" y="0"/>
                    <a:pt x="1703876" y="6323"/>
                    <a:pt x="1715132" y="17578"/>
                  </a:cubicBezTo>
                  <a:cubicBezTo>
                    <a:pt x="1726387" y="28833"/>
                    <a:pt x="1732710" y="44099"/>
                    <a:pt x="1732710" y="60016"/>
                  </a:cubicBezTo>
                  <a:lnTo>
                    <a:pt x="1732710" y="209673"/>
                  </a:lnTo>
                  <a:cubicBezTo>
                    <a:pt x="1732710" y="242819"/>
                    <a:pt x="1705840" y="269689"/>
                    <a:pt x="1672694" y="269689"/>
                  </a:cubicBezTo>
                  <a:lnTo>
                    <a:pt x="60016" y="269689"/>
                  </a:lnTo>
                  <a:cubicBezTo>
                    <a:pt x="44099" y="269689"/>
                    <a:pt x="28833" y="263366"/>
                    <a:pt x="17578" y="252110"/>
                  </a:cubicBezTo>
                  <a:cubicBezTo>
                    <a:pt x="6323" y="240855"/>
                    <a:pt x="0" y="225590"/>
                    <a:pt x="0" y="209673"/>
                  </a:cubicBezTo>
                  <a:lnTo>
                    <a:pt x="0" y="60016"/>
                  </a:lnTo>
                  <a:cubicBezTo>
                    <a:pt x="0" y="44099"/>
                    <a:pt x="6323" y="28833"/>
                    <a:pt x="17578" y="17578"/>
                  </a:cubicBezTo>
                  <a:cubicBezTo>
                    <a:pt x="28833" y="6323"/>
                    <a:pt x="44099" y="0"/>
                    <a:pt x="6001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474646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732710" cy="3077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6245186" y="5226862"/>
            <a:ext cx="5797628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Midas Electronics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363774" y="314408"/>
            <a:ext cx="4568497" cy="451493"/>
            <a:chOff x="0" y="0"/>
            <a:chExt cx="1779397" cy="1758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779397" cy="175853"/>
            </a:xfrm>
            <a:custGeom>
              <a:avLst/>
              <a:gdLst/>
              <a:ahLst/>
              <a:cxnLst/>
              <a:rect r="r" b="b" t="t" l="l"/>
              <a:pathLst>
                <a:path h="175853" w="1779397">
                  <a:moveTo>
                    <a:pt x="86426" y="0"/>
                  </a:moveTo>
                  <a:lnTo>
                    <a:pt x="1692971" y="0"/>
                  </a:lnTo>
                  <a:cubicBezTo>
                    <a:pt x="1715892" y="0"/>
                    <a:pt x="1737875" y="9106"/>
                    <a:pt x="1754083" y="25314"/>
                  </a:cubicBezTo>
                  <a:cubicBezTo>
                    <a:pt x="1770291" y="41522"/>
                    <a:pt x="1779397" y="63505"/>
                    <a:pt x="1779397" y="86426"/>
                  </a:cubicBezTo>
                  <a:lnTo>
                    <a:pt x="1779397" y="89427"/>
                  </a:lnTo>
                  <a:cubicBezTo>
                    <a:pt x="1779397" y="112349"/>
                    <a:pt x="1770291" y="134331"/>
                    <a:pt x="1754083" y="150540"/>
                  </a:cubicBezTo>
                  <a:cubicBezTo>
                    <a:pt x="1737875" y="166748"/>
                    <a:pt x="1715892" y="175853"/>
                    <a:pt x="1692971" y="175853"/>
                  </a:cubicBezTo>
                  <a:lnTo>
                    <a:pt x="86426" y="175853"/>
                  </a:lnTo>
                  <a:cubicBezTo>
                    <a:pt x="63505" y="175853"/>
                    <a:pt x="41522" y="166748"/>
                    <a:pt x="25314" y="150540"/>
                  </a:cubicBezTo>
                  <a:cubicBezTo>
                    <a:pt x="9106" y="134331"/>
                    <a:pt x="0" y="112349"/>
                    <a:pt x="0" y="89427"/>
                  </a:cubicBezTo>
                  <a:lnTo>
                    <a:pt x="0" y="86426"/>
                  </a:lnTo>
                  <a:cubicBezTo>
                    <a:pt x="0" y="63505"/>
                    <a:pt x="9106" y="41522"/>
                    <a:pt x="25314" y="25314"/>
                  </a:cubicBezTo>
                  <a:cubicBezTo>
                    <a:pt x="41522" y="9106"/>
                    <a:pt x="63505" y="0"/>
                    <a:pt x="8642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474646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779397" cy="2139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3624855" y="381314"/>
            <a:ext cx="4046335" cy="289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40"/>
              </a:lnSpc>
            </a:pPr>
            <a:r>
              <a:rPr lang="en-US" sz="174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CT-463 DATA WAREHOUSE &amp; MINING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2366" y="3207609"/>
            <a:ext cx="3092755" cy="2340086"/>
            <a:chOff x="0" y="0"/>
            <a:chExt cx="900456" cy="6813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0456" cy="681316"/>
            </a:xfrm>
            <a:custGeom>
              <a:avLst/>
              <a:gdLst/>
              <a:ahLst/>
              <a:cxnLst/>
              <a:rect r="r" b="b" t="t" l="l"/>
              <a:pathLst>
                <a:path h="681316" w="900456">
                  <a:moveTo>
                    <a:pt x="37549" y="0"/>
                  </a:moveTo>
                  <a:lnTo>
                    <a:pt x="862907" y="0"/>
                  </a:lnTo>
                  <a:cubicBezTo>
                    <a:pt x="883645" y="0"/>
                    <a:pt x="900456" y="16811"/>
                    <a:pt x="900456" y="37549"/>
                  </a:cubicBezTo>
                  <a:lnTo>
                    <a:pt x="900456" y="643767"/>
                  </a:lnTo>
                  <a:cubicBezTo>
                    <a:pt x="900456" y="653726"/>
                    <a:pt x="896500" y="663277"/>
                    <a:pt x="889458" y="670318"/>
                  </a:cubicBezTo>
                  <a:cubicBezTo>
                    <a:pt x="882416" y="677360"/>
                    <a:pt x="872866" y="681316"/>
                    <a:pt x="862907" y="681316"/>
                  </a:cubicBezTo>
                  <a:lnTo>
                    <a:pt x="37549" y="681316"/>
                  </a:lnTo>
                  <a:cubicBezTo>
                    <a:pt x="27590" y="681316"/>
                    <a:pt x="18039" y="677360"/>
                    <a:pt x="10998" y="670318"/>
                  </a:cubicBezTo>
                  <a:cubicBezTo>
                    <a:pt x="3956" y="663277"/>
                    <a:pt x="0" y="653726"/>
                    <a:pt x="0" y="643767"/>
                  </a:cubicBezTo>
                  <a:lnTo>
                    <a:pt x="0" y="37549"/>
                  </a:lnTo>
                  <a:cubicBezTo>
                    <a:pt x="0" y="16811"/>
                    <a:pt x="16811" y="0"/>
                    <a:pt x="37549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00456" cy="719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62900" y="3370816"/>
            <a:ext cx="2791687" cy="3708576"/>
            <a:chOff x="0" y="0"/>
            <a:chExt cx="812800" cy="107975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1079752"/>
            </a:xfrm>
            <a:custGeom>
              <a:avLst/>
              <a:gdLst/>
              <a:ahLst/>
              <a:cxnLst/>
              <a:rect r="r" b="b" t="t" l="l"/>
              <a:pathLst>
                <a:path h="1079752" w="812800">
                  <a:moveTo>
                    <a:pt x="41598" y="0"/>
                  </a:moveTo>
                  <a:lnTo>
                    <a:pt x="771202" y="0"/>
                  </a:lnTo>
                  <a:cubicBezTo>
                    <a:pt x="794176" y="0"/>
                    <a:pt x="812800" y="18624"/>
                    <a:pt x="812800" y="41598"/>
                  </a:cubicBezTo>
                  <a:lnTo>
                    <a:pt x="812800" y="1038154"/>
                  </a:lnTo>
                  <a:cubicBezTo>
                    <a:pt x="812800" y="1061128"/>
                    <a:pt x="794176" y="1079752"/>
                    <a:pt x="771202" y="1079752"/>
                  </a:cubicBezTo>
                  <a:lnTo>
                    <a:pt x="41598" y="1079752"/>
                  </a:lnTo>
                  <a:cubicBezTo>
                    <a:pt x="18624" y="1079752"/>
                    <a:pt x="0" y="1061128"/>
                    <a:pt x="0" y="1038154"/>
                  </a:cubicBezTo>
                  <a:lnTo>
                    <a:pt x="0" y="41598"/>
                  </a:lnTo>
                  <a:cubicBezTo>
                    <a:pt x="0" y="18624"/>
                    <a:pt x="18624" y="0"/>
                    <a:pt x="41598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12800" cy="1117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254994" y="3207609"/>
            <a:ext cx="3092755" cy="2340086"/>
            <a:chOff x="0" y="0"/>
            <a:chExt cx="900456" cy="6813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00456" cy="681316"/>
            </a:xfrm>
            <a:custGeom>
              <a:avLst/>
              <a:gdLst/>
              <a:ahLst/>
              <a:cxnLst/>
              <a:rect r="r" b="b" t="t" l="l"/>
              <a:pathLst>
                <a:path h="681316" w="900456">
                  <a:moveTo>
                    <a:pt x="37549" y="0"/>
                  </a:moveTo>
                  <a:lnTo>
                    <a:pt x="862907" y="0"/>
                  </a:lnTo>
                  <a:cubicBezTo>
                    <a:pt x="883645" y="0"/>
                    <a:pt x="900456" y="16811"/>
                    <a:pt x="900456" y="37549"/>
                  </a:cubicBezTo>
                  <a:lnTo>
                    <a:pt x="900456" y="643767"/>
                  </a:lnTo>
                  <a:cubicBezTo>
                    <a:pt x="900456" y="653726"/>
                    <a:pt x="896500" y="663277"/>
                    <a:pt x="889458" y="670318"/>
                  </a:cubicBezTo>
                  <a:cubicBezTo>
                    <a:pt x="882416" y="677360"/>
                    <a:pt x="872866" y="681316"/>
                    <a:pt x="862907" y="681316"/>
                  </a:cubicBezTo>
                  <a:lnTo>
                    <a:pt x="37549" y="681316"/>
                  </a:lnTo>
                  <a:cubicBezTo>
                    <a:pt x="27590" y="681316"/>
                    <a:pt x="18039" y="677360"/>
                    <a:pt x="10998" y="670318"/>
                  </a:cubicBezTo>
                  <a:cubicBezTo>
                    <a:pt x="3956" y="663277"/>
                    <a:pt x="0" y="653726"/>
                    <a:pt x="0" y="643767"/>
                  </a:cubicBezTo>
                  <a:lnTo>
                    <a:pt x="0" y="37549"/>
                  </a:lnTo>
                  <a:cubicBezTo>
                    <a:pt x="0" y="16811"/>
                    <a:pt x="16811" y="0"/>
                    <a:pt x="37549" y="0"/>
                  </a:cubicBezTo>
                  <a:close/>
                </a:path>
              </a:pathLst>
            </a:custGeom>
            <a:solidFill>
              <a:srgbClr val="B4C4C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00456" cy="719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405528" y="3370816"/>
            <a:ext cx="2791687" cy="3708576"/>
            <a:chOff x="0" y="0"/>
            <a:chExt cx="812800" cy="1079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1079752"/>
            </a:xfrm>
            <a:custGeom>
              <a:avLst/>
              <a:gdLst/>
              <a:ahLst/>
              <a:cxnLst/>
              <a:rect r="r" b="b" t="t" l="l"/>
              <a:pathLst>
                <a:path h="1079752" w="812800">
                  <a:moveTo>
                    <a:pt x="41598" y="0"/>
                  </a:moveTo>
                  <a:lnTo>
                    <a:pt x="771202" y="0"/>
                  </a:lnTo>
                  <a:cubicBezTo>
                    <a:pt x="794176" y="0"/>
                    <a:pt x="812800" y="18624"/>
                    <a:pt x="812800" y="41598"/>
                  </a:cubicBezTo>
                  <a:lnTo>
                    <a:pt x="812800" y="1038154"/>
                  </a:lnTo>
                  <a:cubicBezTo>
                    <a:pt x="812800" y="1061128"/>
                    <a:pt x="794176" y="1079752"/>
                    <a:pt x="771202" y="1079752"/>
                  </a:cubicBezTo>
                  <a:lnTo>
                    <a:pt x="41598" y="1079752"/>
                  </a:lnTo>
                  <a:cubicBezTo>
                    <a:pt x="18624" y="1079752"/>
                    <a:pt x="0" y="1061128"/>
                    <a:pt x="0" y="1038154"/>
                  </a:cubicBezTo>
                  <a:lnTo>
                    <a:pt x="0" y="41598"/>
                  </a:lnTo>
                  <a:cubicBezTo>
                    <a:pt x="0" y="18624"/>
                    <a:pt x="18624" y="0"/>
                    <a:pt x="41598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812800" cy="1117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597622" y="3207609"/>
            <a:ext cx="3092755" cy="2340086"/>
            <a:chOff x="0" y="0"/>
            <a:chExt cx="900456" cy="6813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0456" cy="681316"/>
            </a:xfrm>
            <a:custGeom>
              <a:avLst/>
              <a:gdLst/>
              <a:ahLst/>
              <a:cxnLst/>
              <a:rect r="r" b="b" t="t" l="l"/>
              <a:pathLst>
                <a:path h="681316" w="900456">
                  <a:moveTo>
                    <a:pt x="37549" y="0"/>
                  </a:moveTo>
                  <a:lnTo>
                    <a:pt x="862907" y="0"/>
                  </a:lnTo>
                  <a:cubicBezTo>
                    <a:pt x="883645" y="0"/>
                    <a:pt x="900456" y="16811"/>
                    <a:pt x="900456" y="37549"/>
                  </a:cubicBezTo>
                  <a:lnTo>
                    <a:pt x="900456" y="643767"/>
                  </a:lnTo>
                  <a:cubicBezTo>
                    <a:pt x="900456" y="653726"/>
                    <a:pt x="896500" y="663277"/>
                    <a:pt x="889458" y="670318"/>
                  </a:cubicBezTo>
                  <a:cubicBezTo>
                    <a:pt x="882416" y="677360"/>
                    <a:pt x="872866" y="681316"/>
                    <a:pt x="862907" y="681316"/>
                  </a:cubicBezTo>
                  <a:lnTo>
                    <a:pt x="37549" y="681316"/>
                  </a:lnTo>
                  <a:cubicBezTo>
                    <a:pt x="27590" y="681316"/>
                    <a:pt x="18039" y="677360"/>
                    <a:pt x="10998" y="670318"/>
                  </a:cubicBezTo>
                  <a:cubicBezTo>
                    <a:pt x="3956" y="663277"/>
                    <a:pt x="0" y="653726"/>
                    <a:pt x="0" y="643767"/>
                  </a:cubicBezTo>
                  <a:lnTo>
                    <a:pt x="0" y="37549"/>
                  </a:lnTo>
                  <a:cubicBezTo>
                    <a:pt x="0" y="16811"/>
                    <a:pt x="16811" y="0"/>
                    <a:pt x="37549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900456" cy="719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748156" y="3370816"/>
            <a:ext cx="2791687" cy="3708576"/>
            <a:chOff x="0" y="0"/>
            <a:chExt cx="812800" cy="1079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1079752"/>
            </a:xfrm>
            <a:custGeom>
              <a:avLst/>
              <a:gdLst/>
              <a:ahLst/>
              <a:cxnLst/>
              <a:rect r="r" b="b" t="t" l="l"/>
              <a:pathLst>
                <a:path h="1079752" w="812800">
                  <a:moveTo>
                    <a:pt x="41598" y="0"/>
                  </a:moveTo>
                  <a:lnTo>
                    <a:pt x="771202" y="0"/>
                  </a:lnTo>
                  <a:cubicBezTo>
                    <a:pt x="794176" y="0"/>
                    <a:pt x="812800" y="18624"/>
                    <a:pt x="812800" y="41598"/>
                  </a:cubicBezTo>
                  <a:lnTo>
                    <a:pt x="812800" y="1038154"/>
                  </a:lnTo>
                  <a:cubicBezTo>
                    <a:pt x="812800" y="1061128"/>
                    <a:pt x="794176" y="1079752"/>
                    <a:pt x="771202" y="1079752"/>
                  </a:cubicBezTo>
                  <a:lnTo>
                    <a:pt x="41598" y="1079752"/>
                  </a:lnTo>
                  <a:cubicBezTo>
                    <a:pt x="18624" y="1079752"/>
                    <a:pt x="0" y="1061128"/>
                    <a:pt x="0" y="1038154"/>
                  </a:cubicBezTo>
                  <a:lnTo>
                    <a:pt x="0" y="41598"/>
                  </a:lnTo>
                  <a:cubicBezTo>
                    <a:pt x="0" y="18624"/>
                    <a:pt x="18624" y="0"/>
                    <a:pt x="41598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812800" cy="1117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40251" y="3207609"/>
            <a:ext cx="3092755" cy="2340086"/>
            <a:chOff x="0" y="0"/>
            <a:chExt cx="900456" cy="6813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00456" cy="681316"/>
            </a:xfrm>
            <a:custGeom>
              <a:avLst/>
              <a:gdLst/>
              <a:ahLst/>
              <a:cxnLst/>
              <a:rect r="r" b="b" t="t" l="l"/>
              <a:pathLst>
                <a:path h="681316" w="900456">
                  <a:moveTo>
                    <a:pt x="37549" y="0"/>
                  </a:moveTo>
                  <a:lnTo>
                    <a:pt x="862907" y="0"/>
                  </a:lnTo>
                  <a:cubicBezTo>
                    <a:pt x="883645" y="0"/>
                    <a:pt x="900456" y="16811"/>
                    <a:pt x="900456" y="37549"/>
                  </a:cubicBezTo>
                  <a:lnTo>
                    <a:pt x="900456" y="643767"/>
                  </a:lnTo>
                  <a:cubicBezTo>
                    <a:pt x="900456" y="653726"/>
                    <a:pt x="896500" y="663277"/>
                    <a:pt x="889458" y="670318"/>
                  </a:cubicBezTo>
                  <a:cubicBezTo>
                    <a:pt x="882416" y="677360"/>
                    <a:pt x="872866" y="681316"/>
                    <a:pt x="862907" y="681316"/>
                  </a:cubicBezTo>
                  <a:lnTo>
                    <a:pt x="37549" y="681316"/>
                  </a:lnTo>
                  <a:cubicBezTo>
                    <a:pt x="27590" y="681316"/>
                    <a:pt x="18039" y="677360"/>
                    <a:pt x="10998" y="670318"/>
                  </a:cubicBezTo>
                  <a:cubicBezTo>
                    <a:pt x="3956" y="663277"/>
                    <a:pt x="0" y="653726"/>
                    <a:pt x="0" y="643767"/>
                  </a:cubicBezTo>
                  <a:lnTo>
                    <a:pt x="0" y="37549"/>
                  </a:lnTo>
                  <a:cubicBezTo>
                    <a:pt x="0" y="16811"/>
                    <a:pt x="16811" y="0"/>
                    <a:pt x="37549" y="0"/>
                  </a:cubicBezTo>
                  <a:close/>
                </a:path>
              </a:pathLst>
            </a:custGeom>
            <a:solidFill>
              <a:srgbClr val="B4C4C4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00456" cy="719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090785" y="3370816"/>
            <a:ext cx="2791687" cy="3708576"/>
            <a:chOff x="0" y="0"/>
            <a:chExt cx="812800" cy="1079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1079752"/>
            </a:xfrm>
            <a:custGeom>
              <a:avLst/>
              <a:gdLst/>
              <a:ahLst/>
              <a:cxnLst/>
              <a:rect r="r" b="b" t="t" l="l"/>
              <a:pathLst>
                <a:path h="1079752" w="812800">
                  <a:moveTo>
                    <a:pt x="41598" y="0"/>
                  </a:moveTo>
                  <a:lnTo>
                    <a:pt x="771202" y="0"/>
                  </a:lnTo>
                  <a:cubicBezTo>
                    <a:pt x="794176" y="0"/>
                    <a:pt x="812800" y="18624"/>
                    <a:pt x="812800" y="41598"/>
                  </a:cubicBezTo>
                  <a:lnTo>
                    <a:pt x="812800" y="1038154"/>
                  </a:lnTo>
                  <a:cubicBezTo>
                    <a:pt x="812800" y="1061128"/>
                    <a:pt x="794176" y="1079752"/>
                    <a:pt x="771202" y="1079752"/>
                  </a:cubicBezTo>
                  <a:lnTo>
                    <a:pt x="41598" y="1079752"/>
                  </a:lnTo>
                  <a:cubicBezTo>
                    <a:pt x="18624" y="1079752"/>
                    <a:pt x="0" y="1061128"/>
                    <a:pt x="0" y="1038154"/>
                  </a:cubicBezTo>
                  <a:lnTo>
                    <a:pt x="0" y="41598"/>
                  </a:lnTo>
                  <a:cubicBezTo>
                    <a:pt x="0" y="18624"/>
                    <a:pt x="18624" y="0"/>
                    <a:pt x="41598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812800" cy="1117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587864" y="5006939"/>
            <a:ext cx="1741758" cy="42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4"/>
              </a:lnSpc>
            </a:pPr>
            <a:r>
              <a:rPr lang="en-US" sz="282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CT-22016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01853" y="5645189"/>
            <a:ext cx="2313780" cy="746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0"/>
              </a:lnSpc>
            </a:pPr>
            <a:r>
              <a:rPr lang="en-US" sz="2157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HIMAYAL ASGHAR JAHAN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2189641" y="8050941"/>
            <a:ext cx="332783" cy="332783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31" id="31"/>
          <p:cNvSpPr/>
          <p:nvPr/>
        </p:nvSpPr>
        <p:spPr>
          <a:xfrm>
            <a:off x="2522424" y="8217333"/>
            <a:ext cx="13397278" cy="0"/>
          </a:xfrm>
          <a:prstGeom prst="line">
            <a:avLst/>
          </a:prstGeom>
          <a:ln cap="flat" w="38100">
            <a:solidFill>
              <a:srgbClr val="B4B4B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5634980" y="8050941"/>
            <a:ext cx="332783" cy="332783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C4C4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8977608" y="8050941"/>
            <a:ext cx="332783" cy="332783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425067" y="8050941"/>
            <a:ext cx="332783" cy="332783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4C4C4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282879" y="3207609"/>
            <a:ext cx="3092755" cy="2340086"/>
            <a:chOff x="0" y="0"/>
            <a:chExt cx="900456" cy="68131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00456" cy="681316"/>
            </a:xfrm>
            <a:custGeom>
              <a:avLst/>
              <a:gdLst/>
              <a:ahLst/>
              <a:cxnLst/>
              <a:rect r="r" b="b" t="t" l="l"/>
              <a:pathLst>
                <a:path h="681316" w="900456">
                  <a:moveTo>
                    <a:pt x="37549" y="0"/>
                  </a:moveTo>
                  <a:lnTo>
                    <a:pt x="862907" y="0"/>
                  </a:lnTo>
                  <a:cubicBezTo>
                    <a:pt x="883645" y="0"/>
                    <a:pt x="900456" y="16811"/>
                    <a:pt x="900456" y="37549"/>
                  </a:cubicBezTo>
                  <a:lnTo>
                    <a:pt x="900456" y="643767"/>
                  </a:lnTo>
                  <a:cubicBezTo>
                    <a:pt x="900456" y="653726"/>
                    <a:pt x="896500" y="663277"/>
                    <a:pt x="889458" y="670318"/>
                  </a:cubicBezTo>
                  <a:cubicBezTo>
                    <a:pt x="882416" y="677360"/>
                    <a:pt x="872866" y="681316"/>
                    <a:pt x="862907" y="681316"/>
                  </a:cubicBezTo>
                  <a:lnTo>
                    <a:pt x="37549" y="681316"/>
                  </a:lnTo>
                  <a:cubicBezTo>
                    <a:pt x="27590" y="681316"/>
                    <a:pt x="18039" y="677360"/>
                    <a:pt x="10998" y="670318"/>
                  </a:cubicBezTo>
                  <a:cubicBezTo>
                    <a:pt x="3956" y="663277"/>
                    <a:pt x="0" y="653726"/>
                    <a:pt x="0" y="643767"/>
                  </a:cubicBezTo>
                  <a:lnTo>
                    <a:pt x="0" y="37549"/>
                  </a:lnTo>
                  <a:cubicBezTo>
                    <a:pt x="0" y="16811"/>
                    <a:pt x="16811" y="0"/>
                    <a:pt x="37549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900456" cy="7194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433413" y="3370816"/>
            <a:ext cx="2791687" cy="3708576"/>
            <a:chOff x="0" y="0"/>
            <a:chExt cx="812800" cy="1079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1079752"/>
            </a:xfrm>
            <a:custGeom>
              <a:avLst/>
              <a:gdLst/>
              <a:ahLst/>
              <a:cxnLst/>
              <a:rect r="r" b="b" t="t" l="l"/>
              <a:pathLst>
                <a:path h="1079752" w="812800">
                  <a:moveTo>
                    <a:pt x="41598" y="0"/>
                  </a:moveTo>
                  <a:lnTo>
                    <a:pt x="771202" y="0"/>
                  </a:lnTo>
                  <a:cubicBezTo>
                    <a:pt x="794176" y="0"/>
                    <a:pt x="812800" y="18624"/>
                    <a:pt x="812800" y="41598"/>
                  </a:cubicBezTo>
                  <a:lnTo>
                    <a:pt x="812800" y="1038154"/>
                  </a:lnTo>
                  <a:cubicBezTo>
                    <a:pt x="812800" y="1061128"/>
                    <a:pt x="794176" y="1079752"/>
                    <a:pt x="771202" y="1079752"/>
                  </a:cubicBezTo>
                  <a:lnTo>
                    <a:pt x="41598" y="1079752"/>
                  </a:lnTo>
                  <a:cubicBezTo>
                    <a:pt x="18624" y="1079752"/>
                    <a:pt x="0" y="1061128"/>
                    <a:pt x="0" y="1038154"/>
                  </a:cubicBezTo>
                  <a:lnTo>
                    <a:pt x="0" y="41598"/>
                  </a:lnTo>
                  <a:cubicBezTo>
                    <a:pt x="0" y="18624"/>
                    <a:pt x="18624" y="0"/>
                    <a:pt x="41598" y="0"/>
                  </a:cubicBezTo>
                  <a:close/>
                </a:path>
              </a:pathLst>
            </a:custGeom>
            <a:solidFill>
              <a:srgbClr val="F1F1F1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812800" cy="1117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5662865" y="8050941"/>
            <a:ext cx="332783" cy="332783"/>
            <a:chOff x="0" y="0"/>
            <a:chExt cx="812800" cy="812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49" id="4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4870599" y="1175669"/>
            <a:ext cx="8546802" cy="1351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60"/>
              </a:lnSpc>
            </a:pPr>
            <a:r>
              <a:rPr lang="en-US" b="true" sz="79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GROUP MEMBERS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994568" y="3800137"/>
            <a:ext cx="928351" cy="928351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EBEB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0028" lIns="40028" bIns="40028" rIns="4002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2250188" y="4105978"/>
            <a:ext cx="417111" cy="33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sz="222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930493" y="5006939"/>
            <a:ext cx="1741758" cy="42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4"/>
              </a:lnSpc>
            </a:pPr>
            <a:r>
              <a:rPr lang="en-US" sz="282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CT-22019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644482" y="5833589"/>
            <a:ext cx="2313780" cy="369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0"/>
              </a:lnSpc>
            </a:pPr>
            <a:r>
              <a:rPr lang="en-US" sz="2157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MARIA SHAIKH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5337196" y="3800137"/>
            <a:ext cx="928351" cy="928351"/>
            <a:chOff x="0" y="0"/>
            <a:chExt cx="812800" cy="812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EBEB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0028" lIns="40028" bIns="40028" rIns="4002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5592816" y="4105978"/>
            <a:ext cx="417111" cy="33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sz="222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273121" y="5006939"/>
            <a:ext cx="1905003" cy="42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4"/>
              </a:lnSpc>
            </a:pPr>
            <a:r>
              <a:rPr lang="en-US" sz="282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CT-22020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987790" y="5833589"/>
            <a:ext cx="2313780" cy="369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0"/>
              </a:lnSpc>
            </a:pPr>
            <a:r>
              <a:rPr lang="en-US" sz="2157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AYESHA ATIQ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8679824" y="3800137"/>
            <a:ext cx="928351" cy="928351"/>
            <a:chOff x="0" y="0"/>
            <a:chExt cx="812800" cy="8128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EBEB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5" id="6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0028" lIns="40028" bIns="40028" rIns="4002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6" id="66"/>
          <p:cNvSpPr txBox="true"/>
          <p:nvPr/>
        </p:nvSpPr>
        <p:spPr>
          <a:xfrm rot="0">
            <a:off x="8935444" y="4105978"/>
            <a:ext cx="417111" cy="33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sz="222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615749" y="5006939"/>
            <a:ext cx="1741758" cy="42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4"/>
              </a:lnSpc>
            </a:pPr>
            <a:r>
              <a:rPr lang="en-US" sz="282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CT-22021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329738" y="5645189"/>
            <a:ext cx="2313780" cy="746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0"/>
              </a:lnSpc>
            </a:pPr>
            <a:r>
              <a:rPr lang="en-US" sz="2157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BAZIGHA FAROOQ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2022453" y="3800137"/>
            <a:ext cx="928351" cy="928351"/>
            <a:chOff x="0" y="0"/>
            <a:chExt cx="812800" cy="8128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EBEB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1" id="7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0028" lIns="40028" bIns="40028" rIns="4002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12278073" y="4105978"/>
            <a:ext cx="417111" cy="33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sz="222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04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4958378" y="5006939"/>
            <a:ext cx="1778035" cy="422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4"/>
              </a:lnSpc>
            </a:pPr>
            <a:r>
              <a:rPr lang="en-US" sz="2820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CT-22049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4690505" y="5833589"/>
            <a:ext cx="2313780" cy="369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0"/>
              </a:lnSpc>
            </a:pPr>
            <a:r>
              <a:rPr lang="en-US" sz="2157">
                <a:solidFill>
                  <a:srgbClr val="545454"/>
                </a:solidFill>
                <a:latin typeface="DM Sans"/>
                <a:ea typeface="DM Sans"/>
                <a:cs typeface="DM Sans"/>
                <a:sym typeface="DM Sans"/>
              </a:rPr>
              <a:t>SARA RAZEEN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15365081" y="3800137"/>
            <a:ext cx="928351" cy="928351"/>
            <a:chOff x="0" y="0"/>
            <a:chExt cx="812800" cy="8128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BEBEB"/>
            </a:solidFill>
            <a:ln w="571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7" id="7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40028" lIns="40028" bIns="40028" rIns="40028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8" id="78"/>
          <p:cNvSpPr txBox="true"/>
          <p:nvPr/>
        </p:nvSpPr>
        <p:spPr>
          <a:xfrm rot="0">
            <a:off x="15620701" y="4105978"/>
            <a:ext cx="417111" cy="332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6"/>
              </a:lnSpc>
            </a:pPr>
            <a:r>
              <a:rPr lang="en-US" sz="2222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05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38421" y="1693787"/>
            <a:ext cx="8824316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THE BUSINESS PROBLEM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5648" y="5023101"/>
            <a:ext cx="8338352" cy="3109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8"/>
              </a:lnSpc>
            </a:pPr>
            <a:r>
              <a:rPr lang="en-US" sz="298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What Problem Are We Solving?</a:t>
            </a:r>
          </a:p>
          <a:p>
            <a:pPr algn="just">
              <a:lnSpc>
                <a:spcPts val="1191"/>
              </a:lnSpc>
            </a:pPr>
          </a:p>
          <a:p>
            <a:pPr algn="just" marL="600809" indent="-300405" lvl="1">
              <a:lnSpc>
                <a:spcPts val="3840"/>
              </a:lnSpc>
              <a:buFont typeface="Arial"/>
              <a:buChar char="•"/>
            </a:pPr>
            <a:r>
              <a:rPr lang="en-US" sz="278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Data scattered across multiple systems</a:t>
            </a:r>
          </a:p>
          <a:p>
            <a:pPr algn="just" marL="600809" indent="-300405" lvl="1">
              <a:lnSpc>
                <a:spcPts val="3895"/>
              </a:lnSpc>
              <a:buFont typeface="Arial"/>
              <a:buChar char="•"/>
            </a:pPr>
            <a:r>
              <a:rPr lang="en-US" sz="278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 unified view of performance</a:t>
            </a:r>
          </a:p>
          <a:p>
            <a:pPr algn="just" marL="600809" indent="-300405" lvl="1">
              <a:lnSpc>
                <a:spcPts val="3895"/>
              </a:lnSpc>
              <a:buFont typeface="Arial"/>
              <a:buChar char="•"/>
            </a:pPr>
            <a:r>
              <a:rPr lang="en-US" sz="278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Manual reporting taking hours</a:t>
            </a:r>
          </a:p>
          <a:p>
            <a:pPr algn="just" marL="600809" indent="-300405" lvl="1">
              <a:lnSpc>
                <a:spcPts val="3895"/>
              </a:lnSpc>
              <a:buFont typeface="Arial"/>
              <a:buChar char="•"/>
            </a:pPr>
            <a:r>
              <a:rPr lang="en-US" sz="278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20 percent return rate with no prediction model</a:t>
            </a:r>
          </a:p>
          <a:p>
            <a:pPr algn="just" marL="600809" indent="-300405" lvl="1">
              <a:lnSpc>
                <a:spcPts val="3895"/>
              </a:lnSpc>
              <a:buFont typeface="Arial"/>
              <a:buChar char="•"/>
            </a:pPr>
            <a:r>
              <a:rPr lang="en-US" sz="278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 competitor intelligence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551656" y="82296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906822" y="85847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7" y="0"/>
                </a:lnTo>
                <a:lnTo>
                  <a:pt x="3404467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2731447" y="9258300"/>
            <a:ext cx="3911463" cy="391146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319789" y="89977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3" y="0"/>
                </a:lnTo>
                <a:lnTo>
                  <a:pt x="2578533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9350579" y="5516784"/>
            <a:ext cx="8258476" cy="21223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8"/>
              </a:lnSpc>
            </a:pPr>
            <a:r>
              <a:rPr lang="en-US" sz="298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The Impact</a:t>
            </a:r>
          </a:p>
          <a:p>
            <a:pPr algn="just">
              <a:lnSpc>
                <a:spcPts val="1204"/>
              </a:lnSpc>
            </a:pPr>
          </a:p>
          <a:p>
            <a:pPr algn="just" marL="601242" indent="-300621" lvl="1">
              <a:lnSpc>
                <a:spcPts val="3898"/>
              </a:lnSpc>
              <a:buFont typeface="Arial"/>
              <a:buChar char="•"/>
            </a:pPr>
            <a:r>
              <a:rPr lang="en-US" sz="27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Unable to iden</a:t>
            </a:r>
            <a:r>
              <a:rPr lang="en-US" sz="27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tify valuable customers</a:t>
            </a:r>
          </a:p>
          <a:p>
            <a:pPr algn="just" marL="601242" indent="-300621" lvl="1">
              <a:lnSpc>
                <a:spcPts val="3898"/>
              </a:lnSpc>
              <a:buFont typeface="Arial"/>
              <a:buChar char="•"/>
            </a:pPr>
            <a:r>
              <a:rPr lang="en-US" sz="27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Missing key revenue opportunities</a:t>
            </a:r>
          </a:p>
          <a:p>
            <a:pPr algn="just" marL="601242" indent="-300621" lvl="1">
              <a:lnSpc>
                <a:spcPts val="3898"/>
              </a:lnSpc>
              <a:buFont typeface="Arial"/>
              <a:buChar char="•"/>
            </a:pPr>
            <a:r>
              <a:rPr lang="en-US" sz="27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Decisions remain reactve instead of data-driven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938421" y="1693787"/>
            <a:ext cx="8824316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OUR 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89267" y="4340004"/>
            <a:ext cx="12285988" cy="2723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8"/>
              </a:lnSpc>
            </a:pPr>
            <a:r>
              <a:rPr lang="en-US" sz="298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What We Built</a:t>
            </a:r>
          </a:p>
          <a:p>
            <a:pPr algn="just">
              <a:lnSpc>
                <a:spcPts val="1204"/>
              </a:lnSpc>
            </a:pPr>
          </a:p>
          <a:p>
            <a:pPr algn="just" marL="644426" indent="-322213" lvl="1">
              <a:lnSpc>
                <a:spcPts val="4178"/>
              </a:lnSpc>
              <a:buFont typeface="Arial"/>
              <a:buChar char="•"/>
            </a:pPr>
            <a:r>
              <a:rPr lang="en-US" sz="29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Unified database bringing all d</a:t>
            </a:r>
            <a:r>
              <a:rPr lang="en-US" sz="29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ata into one place</a:t>
            </a:r>
          </a:p>
          <a:p>
            <a:pPr algn="just" marL="644426" indent="-322213" lvl="1">
              <a:lnSpc>
                <a:spcPts val="4178"/>
              </a:lnSpc>
              <a:buFont typeface="Arial"/>
              <a:buChar char="•"/>
            </a:pPr>
            <a:r>
              <a:rPr lang="en-US" sz="29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Star schema</a:t>
            </a:r>
            <a:r>
              <a:rPr lang="en-US" sz="29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design for fast and efficient analytics</a:t>
            </a:r>
          </a:p>
          <a:p>
            <a:pPr algn="just" marL="644426" indent="-322213" lvl="1">
              <a:lnSpc>
                <a:spcPts val="4178"/>
              </a:lnSpc>
              <a:buFont typeface="Arial"/>
              <a:buChar char="•"/>
            </a:pPr>
            <a:r>
              <a:rPr lang="en-US" sz="29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Machine learning models to predict returns and segment customers</a:t>
            </a:r>
          </a:p>
          <a:p>
            <a:pPr algn="just" marL="600808" indent="-300404" lvl="1">
              <a:lnSpc>
                <a:spcPts val="3895"/>
              </a:lnSpc>
              <a:buFont typeface="Arial"/>
              <a:buChar char="•"/>
            </a:pPr>
            <a:r>
              <a:rPr lang="en-US" sz="278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Live dashboards providing real-time business insights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830312" y="744007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85479" y="7795240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116690" y="8984817"/>
            <a:ext cx="3911463" cy="391146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598445" y="8208206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89267" y="7573461"/>
            <a:ext cx="12415104" cy="1173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8"/>
              </a:lnSpc>
            </a:pPr>
            <a:r>
              <a:rPr lang="en-US" sz="298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The Result</a:t>
            </a:r>
          </a:p>
          <a:p>
            <a:pPr algn="just">
              <a:lnSpc>
                <a:spcPts val="1204"/>
              </a:lnSpc>
            </a:pPr>
          </a:p>
          <a:p>
            <a:pPr algn="just">
              <a:lnSpc>
                <a:spcPts val="4178"/>
              </a:lnSpc>
            </a:pPr>
            <a:r>
              <a:rPr lang="en-US" sz="29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500 </a:t>
            </a:r>
            <a:r>
              <a:rPr lang="en-US" sz="29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transact</a:t>
            </a:r>
            <a:r>
              <a:rPr lang="en-US" sz="298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ions | $418K revenue | 3 data sources | 9 optimized tables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625083" y="3123542"/>
            <a:ext cx="13450993" cy="587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75"/>
              </a:lnSpc>
            </a:pPr>
            <a:r>
              <a:rPr lang="en-US" sz="3482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Cen</a:t>
            </a:r>
            <a:r>
              <a:rPr lang="en-US" sz="3482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traliz</a:t>
            </a:r>
            <a:r>
              <a:rPr lang="en-US" sz="3482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ed Data Warehouse — One System. Complete Intelligence.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099134" y="1938695"/>
            <a:ext cx="12089731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PROJECT OBJECTIVES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91099" y="3349950"/>
            <a:ext cx="11625590" cy="61475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963"/>
              </a:lnSpc>
            </a:pPr>
          </a:p>
          <a:p>
            <a:pPr algn="just" marL="515893" indent="-257947" lvl="1">
              <a:lnSpc>
                <a:spcPts val="4062"/>
              </a:lnSpc>
              <a:buAutoNum type="arabicPeriod" startAt="1"/>
            </a:pPr>
            <a:r>
              <a:rPr lang="en-US" b="true" sz="238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Ce</a:t>
            </a:r>
            <a:r>
              <a:rPr lang="en-US" b="true" sz="238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ntralize Data</a:t>
            </a:r>
          </a:p>
          <a:p>
            <a:pPr algn="just" marL="1031787" indent="-343929" lvl="2">
              <a:lnSpc>
                <a:spcPts val="4062"/>
              </a:lnSpc>
              <a:buFont typeface="Arial"/>
              <a:buChar char="⚬"/>
            </a:pPr>
            <a:r>
              <a:rPr lang="en-US" sz="238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Integrate OLTP systems, APIs, and files into a unified d</a:t>
            </a:r>
            <a:r>
              <a:rPr lang="en-US" sz="238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ata warehouse</a:t>
            </a:r>
          </a:p>
          <a:p>
            <a:pPr algn="just" marL="515893" indent="-257947" lvl="1">
              <a:lnSpc>
                <a:spcPts val="4062"/>
              </a:lnSpc>
              <a:buAutoNum type="arabicPeriod" startAt="1"/>
            </a:pPr>
            <a:r>
              <a:rPr lang="en-US" b="true" sz="238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Optimize Performance</a:t>
            </a:r>
          </a:p>
          <a:p>
            <a:pPr algn="just" marL="1031787" indent="-343929" lvl="2">
              <a:lnSpc>
                <a:spcPts val="4062"/>
              </a:lnSpc>
              <a:buFont typeface="Arial"/>
              <a:buChar char="⚬"/>
            </a:pPr>
            <a:r>
              <a:rPr lang="en-US" sz="238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Implement a Star Schema design for sub-second query response</a:t>
            </a:r>
          </a:p>
          <a:p>
            <a:pPr algn="just" marL="515893" indent="-257947" lvl="1">
              <a:lnSpc>
                <a:spcPts val="4062"/>
              </a:lnSpc>
              <a:buAutoNum type="arabicPeriod" startAt="1"/>
            </a:pPr>
            <a:r>
              <a:rPr lang="en-US" b="true" sz="238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Ensure Quality</a:t>
            </a:r>
          </a:p>
          <a:p>
            <a:pPr algn="just" marL="1031787" indent="-343929" lvl="2">
              <a:lnSpc>
                <a:spcPts val="4062"/>
              </a:lnSpc>
              <a:buFont typeface="Arial"/>
              <a:buChar char="⚬"/>
            </a:pPr>
            <a:r>
              <a:rPr lang="en-US" sz="238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Maintain 100% referential integrity with zero null values</a:t>
            </a:r>
          </a:p>
          <a:p>
            <a:pPr algn="just" marL="515893" indent="-257947" lvl="1">
              <a:lnSpc>
                <a:spcPts val="4062"/>
              </a:lnSpc>
              <a:buAutoNum type="arabicPeriod" startAt="1"/>
            </a:pPr>
            <a:r>
              <a:rPr lang="en-US" b="true" sz="238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Enable Analytics</a:t>
            </a:r>
          </a:p>
          <a:p>
            <a:pPr algn="just" marL="1031787" indent="-343929" lvl="2">
              <a:lnSpc>
                <a:spcPts val="4062"/>
              </a:lnSpc>
              <a:buFont typeface="Arial"/>
              <a:buChar char="⚬"/>
            </a:pPr>
            <a:r>
              <a:rPr lang="en-US" sz="238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Support OLAP oper</a:t>
            </a:r>
            <a:r>
              <a:rPr lang="en-US" sz="238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ations such as drill-down, roll-up, slice, dice, and pivot</a:t>
            </a:r>
          </a:p>
          <a:p>
            <a:pPr algn="just" marL="515893" indent="-257947" lvl="1">
              <a:lnSpc>
                <a:spcPts val="4062"/>
              </a:lnSpc>
              <a:buAutoNum type="arabicPeriod" startAt="1"/>
            </a:pPr>
            <a:r>
              <a:rPr lang="en-US" b="true" sz="238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Apply Machine Learning</a:t>
            </a:r>
          </a:p>
          <a:p>
            <a:pPr algn="just" marL="1031787" indent="-343929" lvl="2">
              <a:lnSpc>
                <a:spcPts val="4062"/>
              </a:lnSpc>
              <a:buFont typeface="Arial"/>
              <a:buChar char="⚬"/>
            </a:pPr>
            <a:r>
              <a:rPr lang="en-US" sz="238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Use ML for customer segmentation, return prediction, and anomaly detection</a:t>
            </a:r>
          </a:p>
          <a:p>
            <a:pPr algn="just" marL="515893" indent="-257947" lvl="1">
              <a:lnSpc>
                <a:spcPts val="4062"/>
              </a:lnSpc>
              <a:buAutoNum type="arabicPeriod" startAt="1"/>
            </a:pPr>
            <a:r>
              <a:rPr lang="en-US" b="true" sz="2389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Deliver Insights</a:t>
            </a:r>
          </a:p>
          <a:p>
            <a:pPr algn="just" marL="961950" indent="-320650" lvl="2">
              <a:lnSpc>
                <a:spcPts val="3787"/>
              </a:lnSpc>
              <a:buFont typeface="Arial"/>
              <a:buChar char="⚬"/>
            </a:pPr>
            <a:r>
              <a:rPr lang="en-US" sz="222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Create execut</a:t>
            </a:r>
            <a:r>
              <a:rPr lang="en-US" sz="222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ive dashboards with actionable KPIs for real-time decision-making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830312" y="744007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185479" y="7795240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116690" y="8984817"/>
            <a:ext cx="3911463" cy="391146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598445" y="8208206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44950" y="641958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100117" y="677474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80160" y="8704633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7513083" y="7187716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960860" y="1011379"/>
            <a:ext cx="854680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DATA SOURCES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440871" y="3137618"/>
            <a:ext cx="7450521" cy="2016186"/>
            <a:chOff x="0" y="0"/>
            <a:chExt cx="2683721" cy="7262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83721" cy="726242"/>
            </a:xfrm>
            <a:custGeom>
              <a:avLst/>
              <a:gdLst/>
              <a:ahLst/>
              <a:cxnLst/>
              <a:rect r="r" b="b" t="t" l="l"/>
              <a:pathLst>
                <a:path h="726242" w="2683721">
                  <a:moveTo>
                    <a:pt x="52995" y="0"/>
                  </a:moveTo>
                  <a:lnTo>
                    <a:pt x="2630726" y="0"/>
                  </a:lnTo>
                  <a:cubicBezTo>
                    <a:pt x="2659994" y="0"/>
                    <a:pt x="2683721" y="23727"/>
                    <a:pt x="2683721" y="52995"/>
                  </a:cubicBezTo>
                  <a:lnTo>
                    <a:pt x="2683721" y="673247"/>
                  </a:lnTo>
                  <a:cubicBezTo>
                    <a:pt x="2683721" y="702516"/>
                    <a:pt x="2659994" y="726242"/>
                    <a:pt x="2630726" y="726242"/>
                  </a:cubicBezTo>
                  <a:lnTo>
                    <a:pt x="52995" y="726242"/>
                  </a:lnTo>
                  <a:cubicBezTo>
                    <a:pt x="23727" y="726242"/>
                    <a:pt x="0" y="702516"/>
                    <a:pt x="0" y="673247"/>
                  </a:cubicBezTo>
                  <a:lnTo>
                    <a:pt x="0" y="52995"/>
                  </a:lnTo>
                  <a:cubicBezTo>
                    <a:pt x="0" y="23727"/>
                    <a:pt x="23727" y="0"/>
                    <a:pt x="529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683721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771968" y="3397618"/>
            <a:ext cx="6735694" cy="1433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6"/>
              </a:lnSpc>
            </a:pPr>
            <a:r>
              <a:rPr lang="en-US" sz="2047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OLTP System (Excel Files)</a:t>
            </a:r>
          </a:p>
          <a:p>
            <a:pPr algn="just" marL="442012" indent="-221006" lvl="1">
              <a:lnSpc>
                <a:spcPts val="2866"/>
              </a:lnSpc>
              <a:buFont typeface="Arial"/>
              <a:buChar char="•"/>
            </a:pPr>
            <a:r>
              <a:rPr lang="en-US" sz="20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6 dimension tables</a:t>
            </a:r>
          </a:p>
          <a:p>
            <a:pPr algn="just" marL="442012" indent="-221006" lvl="1">
              <a:lnSpc>
                <a:spcPts val="2866"/>
              </a:lnSpc>
              <a:buFont typeface="Arial"/>
              <a:buChar char="•"/>
            </a:pPr>
            <a:r>
              <a:rPr lang="en-US" sz="20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500 sales transactions</a:t>
            </a:r>
          </a:p>
          <a:p>
            <a:pPr algn="just" marL="442012" indent="-221006" lvl="1">
              <a:lnSpc>
                <a:spcPts val="2866"/>
              </a:lnSpc>
              <a:buFont typeface="Arial"/>
              <a:buChar char="•"/>
            </a:pPr>
            <a:r>
              <a:rPr lang="en-US" sz="20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Includes customer, product, date, and channel data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396608" y="3125929"/>
            <a:ext cx="1864531" cy="2016186"/>
            <a:chOff x="0" y="0"/>
            <a:chExt cx="671615" cy="7262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1615" cy="726242"/>
            </a:xfrm>
            <a:custGeom>
              <a:avLst/>
              <a:gdLst/>
              <a:ahLst/>
              <a:cxnLst/>
              <a:rect r="r" b="b" t="t" l="l"/>
              <a:pathLst>
                <a:path h="726242" w="671615">
                  <a:moveTo>
                    <a:pt x="211763" y="0"/>
                  </a:moveTo>
                  <a:lnTo>
                    <a:pt x="459852" y="0"/>
                  </a:lnTo>
                  <a:cubicBezTo>
                    <a:pt x="516015" y="0"/>
                    <a:pt x="569878" y="22311"/>
                    <a:pt x="609591" y="62024"/>
                  </a:cubicBezTo>
                  <a:cubicBezTo>
                    <a:pt x="649304" y="101737"/>
                    <a:pt x="671615" y="155600"/>
                    <a:pt x="671615" y="211763"/>
                  </a:cubicBezTo>
                  <a:lnTo>
                    <a:pt x="671615" y="514479"/>
                  </a:lnTo>
                  <a:cubicBezTo>
                    <a:pt x="671615" y="631433"/>
                    <a:pt x="576805" y="726242"/>
                    <a:pt x="459852" y="726242"/>
                  </a:cubicBezTo>
                  <a:lnTo>
                    <a:pt x="211763" y="726242"/>
                  </a:lnTo>
                  <a:cubicBezTo>
                    <a:pt x="94809" y="726242"/>
                    <a:pt x="0" y="631433"/>
                    <a:pt x="0" y="514479"/>
                  </a:cubicBezTo>
                  <a:lnTo>
                    <a:pt x="0" y="211763"/>
                  </a:lnTo>
                  <a:cubicBezTo>
                    <a:pt x="0" y="94809"/>
                    <a:pt x="94809" y="0"/>
                    <a:pt x="21176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751249" y="3510919"/>
            <a:ext cx="1155248" cy="113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12"/>
              </a:lnSpc>
            </a:pPr>
            <a:r>
              <a:rPr lang="en-US" b="true" sz="658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01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440871" y="5423179"/>
            <a:ext cx="7450521" cy="2016186"/>
            <a:chOff x="0" y="0"/>
            <a:chExt cx="2683721" cy="7262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83721" cy="726242"/>
            </a:xfrm>
            <a:custGeom>
              <a:avLst/>
              <a:gdLst/>
              <a:ahLst/>
              <a:cxnLst/>
              <a:rect r="r" b="b" t="t" l="l"/>
              <a:pathLst>
                <a:path h="726242" w="2683721">
                  <a:moveTo>
                    <a:pt x="52995" y="0"/>
                  </a:moveTo>
                  <a:lnTo>
                    <a:pt x="2630726" y="0"/>
                  </a:lnTo>
                  <a:cubicBezTo>
                    <a:pt x="2659994" y="0"/>
                    <a:pt x="2683721" y="23727"/>
                    <a:pt x="2683721" y="52995"/>
                  </a:cubicBezTo>
                  <a:lnTo>
                    <a:pt x="2683721" y="673247"/>
                  </a:lnTo>
                  <a:cubicBezTo>
                    <a:pt x="2683721" y="702516"/>
                    <a:pt x="2659994" y="726242"/>
                    <a:pt x="2630726" y="726242"/>
                  </a:cubicBezTo>
                  <a:lnTo>
                    <a:pt x="52995" y="726242"/>
                  </a:lnTo>
                  <a:cubicBezTo>
                    <a:pt x="23727" y="726242"/>
                    <a:pt x="0" y="702516"/>
                    <a:pt x="0" y="673247"/>
                  </a:cubicBezTo>
                  <a:lnTo>
                    <a:pt x="0" y="52995"/>
                  </a:lnTo>
                  <a:cubicBezTo>
                    <a:pt x="0" y="23727"/>
                    <a:pt x="23727" y="0"/>
                    <a:pt x="529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683721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771968" y="5683179"/>
            <a:ext cx="6735694" cy="1433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6"/>
              </a:lnSpc>
            </a:pPr>
            <a:r>
              <a:rPr lang="en-US" sz="2047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External APIs</a:t>
            </a:r>
          </a:p>
          <a:p>
            <a:pPr algn="just" marL="442012" indent="-221006" lvl="1">
              <a:lnSpc>
                <a:spcPts val="2866"/>
              </a:lnSpc>
              <a:buFont typeface="Arial"/>
              <a:buChar char="•"/>
            </a:pPr>
            <a:r>
              <a:rPr lang="en-US" sz="20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Competitor pricing</a:t>
            </a:r>
          </a:p>
          <a:p>
            <a:pPr algn="just" marL="442012" indent="-221006" lvl="1">
              <a:lnSpc>
                <a:spcPts val="2866"/>
              </a:lnSpc>
              <a:buFont typeface="Arial"/>
              <a:buChar char="•"/>
            </a:pPr>
            <a:r>
              <a:rPr lang="en-US" sz="20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Marketing data (Google Ads, Facebook, Email)</a:t>
            </a:r>
          </a:p>
          <a:p>
            <a:pPr algn="just" marL="442012" indent="-221006" lvl="1">
              <a:lnSpc>
                <a:spcPts val="2866"/>
              </a:lnSpc>
              <a:buFont typeface="Arial"/>
              <a:buChar char="•"/>
            </a:pPr>
            <a:r>
              <a:rPr lang="en-US" sz="20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Customer reviews and sentiment scores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396608" y="5411490"/>
            <a:ext cx="1864531" cy="2016186"/>
            <a:chOff x="0" y="0"/>
            <a:chExt cx="671615" cy="72624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1615" cy="726242"/>
            </a:xfrm>
            <a:custGeom>
              <a:avLst/>
              <a:gdLst/>
              <a:ahLst/>
              <a:cxnLst/>
              <a:rect r="r" b="b" t="t" l="l"/>
              <a:pathLst>
                <a:path h="726242" w="671615">
                  <a:moveTo>
                    <a:pt x="211763" y="0"/>
                  </a:moveTo>
                  <a:lnTo>
                    <a:pt x="459852" y="0"/>
                  </a:lnTo>
                  <a:cubicBezTo>
                    <a:pt x="516015" y="0"/>
                    <a:pt x="569878" y="22311"/>
                    <a:pt x="609591" y="62024"/>
                  </a:cubicBezTo>
                  <a:cubicBezTo>
                    <a:pt x="649304" y="101737"/>
                    <a:pt x="671615" y="155600"/>
                    <a:pt x="671615" y="211763"/>
                  </a:cubicBezTo>
                  <a:lnTo>
                    <a:pt x="671615" y="514479"/>
                  </a:lnTo>
                  <a:cubicBezTo>
                    <a:pt x="671615" y="631433"/>
                    <a:pt x="576805" y="726242"/>
                    <a:pt x="459852" y="726242"/>
                  </a:cubicBezTo>
                  <a:lnTo>
                    <a:pt x="211763" y="726242"/>
                  </a:lnTo>
                  <a:cubicBezTo>
                    <a:pt x="94809" y="726242"/>
                    <a:pt x="0" y="631433"/>
                    <a:pt x="0" y="514479"/>
                  </a:cubicBezTo>
                  <a:lnTo>
                    <a:pt x="0" y="211763"/>
                  </a:lnTo>
                  <a:cubicBezTo>
                    <a:pt x="0" y="94809"/>
                    <a:pt x="94809" y="0"/>
                    <a:pt x="21176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4751249" y="5796480"/>
            <a:ext cx="1155248" cy="113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12"/>
              </a:lnSpc>
            </a:pPr>
            <a:r>
              <a:rPr lang="en-US" b="true" sz="658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02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440871" y="7708229"/>
            <a:ext cx="7450521" cy="2016186"/>
            <a:chOff x="0" y="0"/>
            <a:chExt cx="2683721" cy="72624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83721" cy="726242"/>
            </a:xfrm>
            <a:custGeom>
              <a:avLst/>
              <a:gdLst/>
              <a:ahLst/>
              <a:cxnLst/>
              <a:rect r="r" b="b" t="t" l="l"/>
              <a:pathLst>
                <a:path h="726242" w="2683721">
                  <a:moveTo>
                    <a:pt x="52995" y="0"/>
                  </a:moveTo>
                  <a:lnTo>
                    <a:pt x="2630726" y="0"/>
                  </a:lnTo>
                  <a:cubicBezTo>
                    <a:pt x="2659994" y="0"/>
                    <a:pt x="2683721" y="23727"/>
                    <a:pt x="2683721" y="52995"/>
                  </a:cubicBezTo>
                  <a:lnTo>
                    <a:pt x="2683721" y="673247"/>
                  </a:lnTo>
                  <a:cubicBezTo>
                    <a:pt x="2683721" y="702516"/>
                    <a:pt x="2659994" y="726242"/>
                    <a:pt x="2630726" y="726242"/>
                  </a:cubicBezTo>
                  <a:lnTo>
                    <a:pt x="52995" y="726242"/>
                  </a:lnTo>
                  <a:cubicBezTo>
                    <a:pt x="23727" y="726242"/>
                    <a:pt x="0" y="702516"/>
                    <a:pt x="0" y="673247"/>
                  </a:cubicBezTo>
                  <a:lnTo>
                    <a:pt x="0" y="52995"/>
                  </a:lnTo>
                  <a:cubicBezTo>
                    <a:pt x="0" y="23727"/>
                    <a:pt x="23727" y="0"/>
                    <a:pt x="529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683721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771968" y="7968229"/>
            <a:ext cx="6735694" cy="1433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66"/>
              </a:lnSpc>
            </a:pPr>
            <a:r>
              <a:rPr lang="en-US" sz="2047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Data Warehouse</a:t>
            </a:r>
          </a:p>
          <a:p>
            <a:pPr algn="just" marL="442012" indent="-221006" lvl="1">
              <a:lnSpc>
                <a:spcPts val="2866"/>
              </a:lnSpc>
              <a:buFont typeface="Arial"/>
              <a:buChar char="•"/>
            </a:pPr>
            <a:r>
              <a:rPr lang="en-US" sz="20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SQLite database</a:t>
            </a:r>
          </a:p>
          <a:p>
            <a:pPr algn="just" marL="442012" indent="-221006" lvl="1">
              <a:lnSpc>
                <a:spcPts val="2866"/>
              </a:lnSpc>
              <a:buFont typeface="Arial"/>
              <a:buChar char="•"/>
            </a:pPr>
            <a:r>
              <a:rPr lang="en-US" sz="20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9 total tables</a:t>
            </a:r>
          </a:p>
          <a:p>
            <a:pPr algn="just" marL="442012" indent="-221006" lvl="1">
              <a:lnSpc>
                <a:spcPts val="2866"/>
              </a:lnSpc>
              <a:buFont typeface="Arial"/>
              <a:buChar char="•"/>
            </a:pPr>
            <a:r>
              <a:rPr lang="en-US" sz="20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Fully optimized for analytical processing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4396608" y="7696540"/>
            <a:ext cx="1864531" cy="2016186"/>
            <a:chOff x="0" y="0"/>
            <a:chExt cx="671615" cy="72624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1615" cy="726242"/>
            </a:xfrm>
            <a:custGeom>
              <a:avLst/>
              <a:gdLst/>
              <a:ahLst/>
              <a:cxnLst/>
              <a:rect r="r" b="b" t="t" l="l"/>
              <a:pathLst>
                <a:path h="726242" w="671615">
                  <a:moveTo>
                    <a:pt x="211763" y="0"/>
                  </a:moveTo>
                  <a:lnTo>
                    <a:pt x="459852" y="0"/>
                  </a:lnTo>
                  <a:cubicBezTo>
                    <a:pt x="516015" y="0"/>
                    <a:pt x="569878" y="22311"/>
                    <a:pt x="609591" y="62024"/>
                  </a:cubicBezTo>
                  <a:cubicBezTo>
                    <a:pt x="649304" y="101737"/>
                    <a:pt x="671615" y="155600"/>
                    <a:pt x="671615" y="211763"/>
                  </a:cubicBezTo>
                  <a:lnTo>
                    <a:pt x="671615" y="514479"/>
                  </a:lnTo>
                  <a:cubicBezTo>
                    <a:pt x="671615" y="631433"/>
                    <a:pt x="576805" y="726242"/>
                    <a:pt x="459852" y="726242"/>
                  </a:cubicBezTo>
                  <a:lnTo>
                    <a:pt x="211763" y="726242"/>
                  </a:lnTo>
                  <a:cubicBezTo>
                    <a:pt x="94809" y="726242"/>
                    <a:pt x="0" y="631433"/>
                    <a:pt x="0" y="514479"/>
                  </a:cubicBezTo>
                  <a:lnTo>
                    <a:pt x="0" y="211763"/>
                  </a:lnTo>
                  <a:cubicBezTo>
                    <a:pt x="0" y="94809"/>
                    <a:pt x="94809" y="0"/>
                    <a:pt x="21176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4751249" y="8081531"/>
            <a:ext cx="1155248" cy="113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12"/>
              </a:lnSpc>
            </a:pPr>
            <a:r>
              <a:rPr lang="en-US" b="true" sz="658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41979" y="2380760"/>
            <a:ext cx="8004042" cy="7465687"/>
          </a:xfrm>
          <a:custGeom>
            <a:avLst/>
            <a:gdLst/>
            <a:ahLst/>
            <a:cxnLst/>
            <a:rect r="r" b="b" t="t" l="l"/>
            <a:pathLst>
              <a:path h="7465687" w="8004042">
                <a:moveTo>
                  <a:pt x="0" y="0"/>
                </a:moveTo>
                <a:lnTo>
                  <a:pt x="8004042" y="0"/>
                </a:lnTo>
                <a:lnTo>
                  <a:pt x="8004042" y="7465688"/>
                </a:lnTo>
                <a:lnTo>
                  <a:pt x="0" y="74656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726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2291" y="602342"/>
            <a:ext cx="17443418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STAR SCHEMA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68168" y="1916254"/>
            <a:ext cx="11351664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WHY STAR SCHEMA?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14554" y="4469591"/>
            <a:ext cx="6169667" cy="128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06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Performance</a:t>
            </a:r>
          </a:p>
          <a:p>
            <a:pPr algn="l" marL="445648" indent="-222824" lvl="1">
              <a:lnSpc>
                <a:spcPts val="3509"/>
              </a:lnSpc>
              <a:buFont typeface="Arial"/>
              <a:buChar char="•"/>
            </a:pPr>
            <a:r>
              <a:rPr lang="en-US" sz="206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Denormalized</a:t>
            </a:r>
            <a:r>
              <a:rPr lang="en-US" sz="206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design enables fast aggregations</a:t>
            </a:r>
          </a:p>
          <a:p>
            <a:pPr algn="l" marL="445648" indent="-222824" lvl="1">
              <a:lnSpc>
                <a:spcPts val="3509"/>
              </a:lnSpc>
              <a:buFont typeface="Arial"/>
              <a:buChar char="•"/>
            </a:pPr>
            <a:r>
              <a:rPr lang="en-US" sz="206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</a:t>
            </a:r>
            <a:r>
              <a:rPr lang="en-US" sz="206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ub-second query response times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124485" y="834883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79652" y="8704001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3481048" y="9258300"/>
            <a:ext cx="3911463" cy="391146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892618" y="9116967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13445" y="4643155"/>
            <a:ext cx="840118" cy="84011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363580" y="4793974"/>
            <a:ext cx="73984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804888" y="4538380"/>
            <a:ext cx="6169667" cy="128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06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BI Tool Ready</a:t>
            </a:r>
          </a:p>
          <a:p>
            <a:pPr algn="l" marL="445648" indent="-222824" lvl="1">
              <a:lnSpc>
                <a:spcPts val="3509"/>
              </a:lnSpc>
              <a:buFont typeface="Arial"/>
              <a:buChar char="•"/>
            </a:pPr>
            <a:r>
              <a:rPr lang="en-US" sz="206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</a:t>
            </a:r>
            <a:r>
              <a:rPr lang="en-US" sz="206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ntegrates with Power BI, Tableau, and Python</a:t>
            </a:r>
          </a:p>
          <a:p>
            <a:pPr algn="l" marL="445648" indent="-222824" lvl="1">
              <a:lnSpc>
                <a:spcPts val="3509"/>
              </a:lnSpc>
              <a:buFont typeface="Arial"/>
              <a:buChar char="•"/>
            </a:pPr>
            <a:r>
              <a:rPr lang="en-US" sz="206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Ena</a:t>
            </a:r>
            <a:r>
              <a:rPr lang="en-US" sz="206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bles one-click dashboard creation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803779" y="4711945"/>
            <a:ext cx="840118" cy="840118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9853914" y="4862764"/>
            <a:ext cx="73984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14554" y="6562883"/>
            <a:ext cx="6169667" cy="128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06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Business Friendly</a:t>
            </a:r>
          </a:p>
          <a:p>
            <a:pPr algn="l" marL="445648" indent="-222824" lvl="1">
              <a:lnSpc>
                <a:spcPts val="3509"/>
              </a:lnSpc>
              <a:buFont typeface="Arial"/>
              <a:buChar char="•"/>
            </a:pPr>
            <a:r>
              <a:rPr lang="en-US" sz="206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Mirrors real</a:t>
            </a:r>
            <a:r>
              <a:rPr lang="en-US" sz="206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business logic</a:t>
            </a:r>
          </a:p>
          <a:p>
            <a:pPr algn="l" marL="445648" indent="-222824" lvl="1">
              <a:lnSpc>
                <a:spcPts val="3509"/>
              </a:lnSpc>
              <a:buFont typeface="Arial"/>
              <a:buChar char="•"/>
            </a:pPr>
            <a:r>
              <a:rPr lang="en-US" sz="206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Easy for non-technical users to understand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313445" y="6736447"/>
            <a:ext cx="840118" cy="840118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63580" y="6887266"/>
            <a:ext cx="73984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804888" y="6631672"/>
            <a:ext cx="6169667" cy="1288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06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Scalable</a:t>
            </a:r>
          </a:p>
          <a:p>
            <a:pPr algn="l" marL="445648" indent="-222824" lvl="1">
              <a:lnSpc>
                <a:spcPts val="3509"/>
              </a:lnSpc>
              <a:buFont typeface="Arial"/>
              <a:buChar char="•"/>
            </a:pPr>
            <a:r>
              <a:rPr lang="en-US" sz="206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Add </a:t>
            </a:r>
            <a:r>
              <a:rPr lang="en-US" sz="206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new dimensions without restructuring</a:t>
            </a:r>
          </a:p>
          <a:p>
            <a:pPr algn="l" marL="445648" indent="-222824" lvl="1">
              <a:lnSpc>
                <a:spcPts val="3509"/>
              </a:lnSpc>
              <a:buFont typeface="Arial"/>
              <a:buChar char="•"/>
            </a:pPr>
            <a:r>
              <a:rPr lang="en-US" sz="2064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Adapts easily to growing business needs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803779" y="6805237"/>
            <a:ext cx="840118" cy="840118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853914" y="6956056"/>
            <a:ext cx="739848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true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04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052" y="3512863"/>
            <a:ext cx="4488373" cy="4150486"/>
            <a:chOff x="0" y="0"/>
            <a:chExt cx="1368237" cy="12652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8237" cy="1265236"/>
            </a:xfrm>
            <a:custGeom>
              <a:avLst/>
              <a:gdLst/>
              <a:ahLst/>
              <a:cxnLst/>
              <a:rect r="r" b="b" t="t" l="l"/>
              <a:pathLst>
                <a:path h="1265236" w="1368237">
                  <a:moveTo>
                    <a:pt x="55196" y="0"/>
                  </a:moveTo>
                  <a:lnTo>
                    <a:pt x="1313041" y="0"/>
                  </a:lnTo>
                  <a:cubicBezTo>
                    <a:pt x="1327680" y="0"/>
                    <a:pt x="1341719" y="5815"/>
                    <a:pt x="1352070" y="16167"/>
                  </a:cubicBezTo>
                  <a:cubicBezTo>
                    <a:pt x="1362422" y="26518"/>
                    <a:pt x="1368237" y="40557"/>
                    <a:pt x="1368237" y="55196"/>
                  </a:cubicBezTo>
                  <a:lnTo>
                    <a:pt x="1368237" y="1210039"/>
                  </a:lnTo>
                  <a:cubicBezTo>
                    <a:pt x="1368237" y="1224678"/>
                    <a:pt x="1362422" y="1238718"/>
                    <a:pt x="1352070" y="1249069"/>
                  </a:cubicBezTo>
                  <a:cubicBezTo>
                    <a:pt x="1341719" y="1259420"/>
                    <a:pt x="1327680" y="1265236"/>
                    <a:pt x="1313041" y="1265236"/>
                  </a:cubicBezTo>
                  <a:lnTo>
                    <a:pt x="55196" y="1265236"/>
                  </a:lnTo>
                  <a:cubicBezTo>
                    <a:pt x="40557" y="1265236"/>
                    <a:pt x="26518" y="1259420"/>
                    <a:pt x="16167" y="1249069"/>
                  </a:cubicBezTo>
                  <a:cubicBezTo>
                    <a:pt x="5815" y="1238718"/>
                    <a:pt x="0" y="1224678"/>
                    <a:pt x="0" y="1210039"/>
                  </a:cubicBezTo>
                  <a:lnTo>
                    <a:pt x="0" y="55196"/>
                  </a:lnTo>
                  <a:cubicBezTo>
                    <a:pt x="0" y="40557"/>
                    <a:pt x="5815" y="26518"/>
                    <a:pt x="16167" y="16167"/>
                  </a:cubicBezTo>
                  <a:cubicBezTo>
                    <a:pt x="26518" y="5815"/>
                    <a:pt x="40557" y="0"/>
                    <a:pt x="551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68237" cy="1303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77094" y="7910709"/>
            <a:ext cx="2645156" cy="1050583"/>
            <a:chOff x="0" y="0"/>
            <a:chExt cx="2046467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46467" cy="812800"/>
            </a:xfrm>
            <a:custGeom>
              <a:avLst/>
              <a:gdLst/>
              <a:ahLst/>
              <a:cxnLst/>
              <a:rect r="r" b="b" t="t" l="l"/>
              <a:pathLst>
                <a:path h="812800" w="2046467">
                  <a:moveTo>
                    <a:pt x="1023233" y="0"/>
                  </a:moveTo>
                  <a:cubicBezTo>
                    <a:pt x="458117" y="0"/>
                    <a:pt x="0" y="181951"/>
                    <a:pt x="0" y="406400"/>
                  </a:cubicBezTo>
                  <a:cubicBezTo>
                    <a:pt x="0" y="630849"/>
                    <a:pt x="458117" y="812800"/>
                    <a:pt x="1023233" y="812800"/>
                  </a:cubicBezTo>
                  <a:cubicBezTo>
                    <a:pt x="1588350" y="812800"/>
                    <a:pt x="2046467" y="630849"/>
                    <a:pt x="2046467" y="406400"/>
                  </a:cubicBezTo>
                  <a:cubicBezTo>
                    <a:pt x="2046467" y="181951"/>
                    <a:pt x="1588350" y="0"/>
                    <a:pt x="1023233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91856" y="38100"/>
              <a:ext cx="1662754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99814" y="3512863"/>
            <a:ext cx="4488373" cy="4150486"/>
            <a:chOff x="0" y="0"/>
            <a:chExt cx="1368237" cy="12652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8237" cy="1265236"/>
            </a:xfrm>
            <a:custGeom>
              <a:avLst/>
              <a:gdLst/>
              <a:ahLst/>
              <a:cxnLst/>
              <a:rect r="r" b="b" t="t" l="l"/>
              <a:pathLst>
                <a:path h="1265236" w="1368237">
                  <a:moveTo>
                    <a:pt x="55196" y="0"/>
                  </a:moveTo>
                  <a:lnTo>
                    <a:pt x="1313041" y="0"/>
                  </a:lnTo>
                  <a:cubicBezTo>
                    <a:pt x="1327680" y="0"/>
                    <a:pt x="1341719" y="5815"/>
                    <a:pt x="1352070" y="16167"/>
                  </a:cubicBezTo>
                  <a:cubicBezTo>
                    <a:pt x="1362422" y="26518"/>
                    <a:pt x="1368237" y="40557"/>
                    <a:pt x="1368237" y="55196"/>
                  </a:cubicBezTo>
                  <a:lnTo>
                    <a:pt x="1368237" y="1210039"/>
                  </a:lnTo>
                  <a:cubicBezTo>
                    <a:pt x="1368237" y="1224678"/>
                    <a:pt x="1362422" y="1238718"/>
                    <a:pt x="1352070" y="1249069"/>
                  </a:cubicBezTo>
                  <a:cubicBezTo>
                    <a:pt x="1341719" y="1259420"/>
                    <a:pt x="1327680" y="1265236"/>
                    <a:pt x="1313041" y="1265236"/>
                  </a:cubicBezTo>
                  <a:lnTo>
                    <a:pt x="55196" y="1265236"/>
                  </a:lnTo>
                  <a:cubicBezTo>
                    <a:pt x="40557" y="1265236"/>
                    <a:pt x="26518" y="1259420"/>
                    <a:pt x="16167" y="1249069"/>
                  </a:cubicBezTo>
                  <a:cubicBezTo>
                    <a:pt x="5815" y="1238718"/>
                    <a:pt x="0" y="1224678"/>
                    <a:pt x="0" y="1210039"/>
                  </a:cubicBezTo>
                  <a:lnTo>
                    <a:pt x="0" y="55196"/>
                  </a:lnTo>
                  <a:cubicBezTo>
                    <a:pt x="0" y="40557"/>
                    <a:pt x="5815" y="26518"/>
                    <a:pt x="16167" y="16167"/>
                  </a:cubicBezTo>
                  <a:cubicBezTo>
                    <a:pt x="26518" y="5815"/>
                    <a:pt x="40557" y="0"/>
                    <a:pt x="551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68237" cy="1303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560855" y="7910709"/>
            <a:ext cx="2645156" cy="1050583"/>
            <a:chOff x="0" y="0"/>
            <a:chExt cx="2046467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46467" cy="812800"/>
            </a:xfrm>
            <a:custGeom>
              <a:avLst/>
              <a:gdLst/>
              <a:ahLst/>
              <a:cxnLst/>
              <a:rect r="r" b="b" t="t" l="l"/>
              <a:pathLst>
                <a:path h="812800" w="2046467">
                  <a:moveTo>
                    <a:pt x="1023233" y="0"/>
                  </a:moveTo>
                  <a:cubicBezTo>
                    <a:pt x="458117" y="0"/>
                    <a:pt x="0" y="181951"/>
                    <a:pt x="0" y="406400"/>
                  </a:cubicBezTo>
                  <a:cubicBezTo>
                    <a:pt x="0" y="630849"/>
                    <a:pt x="458117" y="812800"/>
                    <a:pt x="1023233" y="812800"/>
                  </a:cubicBezTo>
                  <a:cubicBezTo>
                    <a:pt x="1588350" y="812800"/>
                    <a:pt x="2046467" y="630849"/>
                    <a:pt x="2046467" y="406400"/>
                  </a:cubicBezTo>
                  <a:cubicBezTo>
                    <a:pt x="2046467" y="181951"/>
                    <a:pt x="1588350" y="0"/>
                    <a:pt x="1023233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91856" y="38100"/>
              <a:ext cx="1662754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483575" y="3512863"/>
            <a:ext cx="4488373" cy="4150486"/>
            <a:chOff x="0" y="0"/>
            <a:chExt cx="1368237" cy="12652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68237" cy="1265236"/>
            </a:xfrm>
            <a:custGeom>
              <a:avLst/>
              <a:gdLst/>
              <a:ahLst/>
              <a:cxnLst/>
              <a:rect r="r" b="b" t="t" l="l"/>
              <a:pathLst>
                <a:path h="1265236" w="1368237">
                  <a:moveTo>
                    <a:pt x="55196" y="0"/>
                  </a:moveTo>
                  <a:lnTo>
                    <a:pt x="1313041" y="0"/>
                  </a:lnTo>
                  <a:cubicBezTo>
                    <a:pt x="1327680" y="0"/>
                    <a:pt x="1341719" y="5815"/>
                    <a:pt x="1352070" y="16167"/>
                  </a:cubicBezTo>
                  <a:cubicBezTo>
                    <a:pt x="1362422" y="26518"/>
                    <a:pt x="1368237" y="40557"/>
                    <a:pt x="1368237" y="55196"/>
                  </a:cubicBezTo>
                  <a:lnTo>
                    <a:pt x="1368237" y="1210039"/>
                  </a:lnTo>
                  <a:cubicBezTo>
                    <a:pt x="1368237" y="1224678"/>
                    <a:pt x="1362422" y="1238718"/>
                    <a:pt x="1352070" y="1249069"/>
                  </a:cubicBezTo>
                  <a:cubicBezTo>
                    <a:pt x="1341719" y="1259420"/>
                    <a:pt x="1327680" y="1265236"/>
                    <a:pt x="1313041" y="1265236"/>
                  </a:cubicBezTo>
                  <a:lnTo>
                    <a:pt x="55196" y="1265236"/>
                  </a:lnTo>
                  <a:cubicBezTo>
                    <a:pt x="40557" y="1265236"/>
                    <a:pt x="26518" y="1259420"/>
                    <a:pt x="16167" y="1249069"/>
                  </a:cubicBezTo>
                  <a:cubicBezTo>
                    <a:pt x="5815" y="1238718"/>
                    <a:pt x="0" y="1224678"/>
                    <a:pt x="0" y="1210039"/>
                  </a:cubicBezTo>
                  <a:lnTo>
                    <a:pt x="0" y="55196"/>
                  </a:lnTo>
                  <a:cubicBezTo>
                    <a:pt x="0" y="40557"/>
                    <a:pt x="5815" y="26518"/>
                    <a:pt x="16167" y="16167"/>
                  </a:cubicBezTo>
                  <a:cubicBezTo>
                    <a:pt x="26518" y="5815"/>
                    <a:pt x="40557" y="0"/>
                    <a:pt x="551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68237" cy="1303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144617" y="7910709"/>
            <a:ext cx="2645156" cy="1050583"/>
            <a:chOff x="0" y="0"/>
            <a:chExt cx="2046467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046467" cy="812800"/>
            </a:xfrm>
            <a:custGeom>
              <a:avLst/>
              <a:gdLst/>
              <a:ahLst/>
              <a:cxnLst/>
              <a:rect r="r" b="b" t="t" l="l"/>
              <a:pathLst>
                <a:path h="812800" w="2046467">
                  <a:moveTo>
                    <a:pt x="1023233" y="0"/>
                  </a:moveTo>
                  <a:cubicBezTo>
                    <a:pt x="458117" y="0"/>
                    <a:pt x="0" y="181951"/>
                    <a:pt x="0" y="406400"/>
                  </a:cubicBezTo>
                  <a:cubicBezTo>
                    <a:pt x="0" y="630849"/>
                    <a:pt x="458117" y="812800"/>
                    <a:pt x="1023233" y="812800"/>
                  </a:cubicBezTo>
                  <a:cubicBezTo>
                    <a:pt x="1588350" y="812800"/>
                    <a:pt x="2046467" y="630849"/>
                    <a:pt x="2046467" y="406400"/>
                  </a:cubicBezTo>
                  <a:cubicBezTo>
                    <a:pt x="2046467" y="181951"/>
                    <a:pt x="1588350" y="0"/>
                    <a:pt x="1023233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91856" y="38100"/>
              <a:ext cx="1662754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5804425" y="5377181"/>
            <a:ext cx="1115468" cy="210925"/>
          </a:xfrm>
          <a:custGeom>
            <a:avLst/>
            <a:gdLst/>
            <a:ahLst/>
            <a:cxnLst/>
            <a:rect r="r" b="b" t="t" l="l"/>
            <a:pathLst>
              <a:path h="210925" w="1115468">
                <a:moveTo>
                  <a:pt x="0" y="0"/>
                </a:moveTo>
                <a:lnTo>
                  <a:pt x="1115468" y="0"/>
                </a:lnTo>
                <a:lnTo>
                  <a:pt x="1115468" y="210925"/>
                </a:lnTo>
                <a:lnTo>
                  <a:pt x="0" y="210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532254" y="857250"/>
            <a:ext cx="7223493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ETL PIPELINE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37692" y="3869021"/>
            <a:ext cx="3845093" cy="3405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6"/>
              </a:lnSpc>
            </a:pPr>
            <a:r>
              <a:rPr lang="en-US" sz="241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We collected data from multiple sources, including 6 Excel files from Google Drive and 3 simulated API sources. </a:t>
            </a:r>
          </a:p>
          <a:p>
            <a:pPr algn="l">
              <a:lnSpc>
                <a:spcPts val="3386"/>
              </a:lnSpc>
            </a:pPr>
            <a:r>
              <a:rPr lang="en-US" sz="241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 total of 500 transactions were successfully loaded and verified for accuracy.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10490" y="2280920"/>
            <a:ext cx="4667019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Extract → Transform → Load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657628" y="8137233"/>
            <a:ext cx="1284089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>
                <a:solidFill>
                  <a:srgbClr val="EBEBEB"/>
                </a:solidFill>
                <a:latin typeface="Nunito"/>
                <a:ea typeface="Nunito"/>
                <a:cs typeface="Nunito"/>
                <a:sym typeface="Nunito"/>
              </a:rPr>
              <a:t>Extract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21453" y="3869021"/>
            <a:ext cx="3845093" cy="3405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6"/>
              </a:lnSpc>
            </a:pPr>
            <a:r>
              <a:rPr lang="en-US" sz="241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During transformation, we found 40 missing customers and 79 missing dates. </a:t>
            </a:r>
          </a:p>
          <a:p>
            <a:pPr algn="l">
              <a:lnSpc>
                <a:spcPts val="3386"/>
              </a:lnSpc>
            </a:pPr>
            <a:r>
              <a:rPr lang="en-US" sz="241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“Unknown” placeholders were added to maintain data integrity, achieving 100% referential integrity.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901122" y="8137233"/>
            <a:ext cx="1964622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>
                <a:solidFill>
                  <a:srgbClr val="EBEBEB"/>
                </a:solidFill>
                <a:latin typeface="Nunito"/>
                <a:ea typeface="Nunito"/>
                <a:cs typeface="Nunito"/>
                <a:sym typeface="Nunito"/>
              </a:rPr>
              <a:t>Transform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05215" y="4080541"/>
            <a:ext cx="3845093" cy="2977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86"/>
              </a:lnSpc>
            </a:pPr>
            <a:r>
              <a:rPr lang="en-US" sz="241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 SQLite warehouse database was created, and 9 validated tables were loaded. </a:t>
            </a:r>
          </a:p>
          <a:p>
            <a:pPr algn="l">
              <a:lnSpc>
                <a:spcPts val="3386"/>
              </a:lnSpc>
            </a:pPr>
            <a:r>
              <a:rPr lang="en-US" sz="241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final warehouse was saved to Google Drive for persistence.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015889" y="8137233"/>
            <a:ext cx="902611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>
                <a:solidFill>
                  <a:srgbClr val="EBEBEB"/>
                </a:solidFill>
                <a:latin typeface="Nunito"/>
                <a:ea typeface="Nunito"/>
                <a:cs typeface="Nunito"/>
                <a:sym typeface="Nunito"/>
              </a:rPr>
              <a:t>Load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1368107" y="5377181"/>
            <a:ext cx="1115468" cy="210925"/>
          </a:xfrm>
          <a:custGeom>
            <a:avLst/>
            <a:gdLst/>
            <a:ahLst/>
            <a:cxnLst/>
            <a:rect r="r" b="b" t="t" l="l"/>
            <a:pathLst>
              <a:path h="210925" w="1115468">
                <a:moveTo>
                  <a:pt x="0" y="0"/>
                </a:moveTo>
                <a:lnTo>
                  <a:pt x="1115468" y="0"/>
                </a:lnTo>
                <a:lnTo>
                  <a:pt x="1115468" y="210925"/>
                </a:lnTo>
                <a:lnTo>
                  <a:pt x="0" y="2109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154491"/>
            <a:ext cx="10163178" cy="2324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56"/>
              </a:lnSpc>
            </a:pPr>
            <a:r>
              <a:rPr lang="en-US" sz="246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Quality Rules Appl</a:t>
            </a:r>
            <a:r>
              <a:rPr lang="en-US" sz="246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ied</a:t>
            </a:r>
          </a:p>
          <a:p>
            <a:pPr algn="just">
              <a:lnSpc>
                <a:spcPts val="1204"/>
              </a:lnSpc>
            </a:pPr>
          </a:p>
          <a:p>
            <a:pPr algn="just" marL="533079" indent="-266540" lvl="1">
              <a:lnSpc>
                <a:spcPts val="3456"/>
              </a:lnSpc>
              <a:buAutoNum type="arabicPeriod" startAt="1"/>
            </a:pPr>
            <a:r>
              <a:rPr lang="en-US" sz="246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 nulls allowed</a:t>
            </a:r>
          </a:p>
          <a:p>
            <a:pPr algn="just" marL="533079" indent="-266540" lvl="1">
              <a:lnSpc>
                <a:spcPts val="3456"/>
              </a:lnSpc>
              <a:buAutoNum type="arabicPeriod" startAt="1"/>
            </a:pPr>
            <a:r>
              <a:rPr lang="en-US" sz="246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 duplicates</a:t>
            </a:r>
          </a:p>
          <a:p>
            <a:pPr algn="just" marL="533079" indent="-266540" lvl="1">
              <a:lnSpc>
                <a:spcPts val="3456"/>
              </a:lnSpc>
              <a:buAutoNum type="arabicPeriod" startAt="1"/>
            </a:pPr>
            <a:r>
              <a:rPr lang="en-US" sz="246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All foreign keys validated</a:t>
            </a:r>
          </a:p>
          <a:p>
            <a:pPr algn="just" marL="533079" indent="-266540" lvl="1">
              <a:lnSpc>
                <a:spcPts val="3456"/>
              </a:lnSpc>
              <a:buAutoNum type="arabicPeriod" startAt="1"/>
            </a:pPr>
            <a:r>
              <a:rPr lang="en-US" sz="246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Business logic checks (revenue &gt; 0, discount 0-100%)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28700" y="3455383"/>
            <a:ext cx="10437110" cy="3261597"/>
          </a:xfrm>
          <a:custGeom>
            <a:avLst/>
            <a:gdLst/>
            <a:ahLst/>
            <a:cxnLst/>
            <a:rect r="r" b="b" t="t" l="l"/>
            <a:pathLst>
              <a:path h="3261597" w="10437110">
                <a:moveTo>
                  <a:pt x="0" y="0"/>
                </a:moveTo>
                <a:lnTo>
                  <a:pt x="10437110" y="0"/>
                </a:lnTo>
                <a:lnTo>
                  <a:pt x="10437110" y="3261597"/>
                </a:lnTo>
                <a:lnTo>
                  <a:pt x="0" y="32615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569327" y="906603"/>
            <a:ext cx="13149347" cy="1247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50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DATA QUALITY RESULTS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592528"/>
            <a:ext cx="3118976" cy="587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75"/>
              </a:lnSpc>
            </a:pPr>
            <a:r>
              <a:rPr lang="en-US" sz="3482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Before vs After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3942247" y="1230454"/>
            <a:ext cx="10403507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OLAP OPERATIONS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2689058" y="3617046"/>
            <a:ext cx="5762566" cy="1559409"/>
            <a:chOff x="0" y="0"/>
            <a:chExt cx="2683721" cy="7262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83721" cy="726242"/>
            </a:xfrm>
            <a:custGeom>
              <a:avLst/>
              <a:gdLst/>
              <a:ahLst/>
              <a:cxnLst/>
              <a:rect r="r" b="b" t="t" l="l"/>
              <a:pathLst>
                <a:path h="726242" w="2683721">
                  <a:moveTo>
                    <a:pt x="68518" y="0"/>
                  </a:moveTo>
                  <a:lnTo>
                    <a:pt x="2615203" y="0"/>
                  </a:lnTo>
                  <a:cubicBezTo>
                    <a:pt x="2653044" y="0"/>
                    <a:pt x="2683721" y="30676"/>
                    <a:pt x="2683721" y="68518"/>
                  </a:cubicBezTo>
                  <a:lnTo>
                    <a:pt x="2683721" y="657724"/>
                  </a:lnTo>
                  <a:cubicBezTo>
                    <a:pt x="2683721" y="675896"/>
                    <a:pt x="2676502" y="693324"/>
                    <a:pt x="2663653" y="706174"/>
                  </a:cubicBezTo>
                  <a:cubicBezTo>
                    <a:pt x="2650803" y="719023"/>
                    <a:pt x="2633375" y="726242"/>
                    <a:pt x="2615203" y="726242"/>
                  </a:cubicBezTo>
                  <a:lnTo>
                    <a:pt x="68518" y="726242"/>
                  </a:lnTo>
                  <a:cubicBezTo>
                    <a:pt x="50346" y="726242"/>
                    <a:pt x="32918" y="719023"/>
                    <a:pt x="20068" y="706174"/>
                  </a:cubicBezTo>
                  <a:cubicBezTo>
                    <a:pt x="7219" y="693324"/>
                    <a:pt x="0" y="675896"/>
                    <a:pt x="0" y="657724"/>
                  </a:cubicBezTo>
                  <a:lnTo>
                    <a:pt x="0" y="68518"/>
                  </a:lnTo>
                  <a:cubicBezTo>
                    <a:pt x="0" y="50346"/>
                    <a:pt x="7219" y="32918"/>
                    <a:pt x="20068" y="20068"/>
                  </a:cubicBezTo>
                  <a:cubicBezTo>
                    <a:pt x="32918" y="7219"/>
                    <a:pt x="50346" y="0"/>
                    <a:pt x="6851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683721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945143" y="3819034"/>
            <a:ext cx="5209687" cy="109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16"/>
              </a:lnSpc>
            </a:pPr>
            <a:r>
              <a:rPr lang="en-US" sz="1583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Drill-Down (Year → Month → Day)</a:t>
            </a:r>
          </a:p>
          <a:p>
            <a:pPr algn="just">
              <a:lnSpc>
                <a:spcPts val="2216"/>
              </a:lnSpc>
            </a:pPr>
            <a:r>
              <a:rPr lang="en-US" sz="158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We examined data at progressively detailed levels. March emerged as the best month, generating $149,903—12% higher than January.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107933" y="3608005"/>
            <a:ext cx="1442112" cy="1559409"/>
            <a:chOff x="0" y="0"/>
            <a:chExt cx="671615" cy="7262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1615" cy="726242"/>
            </a:xfrm>
            <a:custGeom>
              <a:avLst/>
              <a:gdLst/>
              <a:ahLst/>
              <a:cxnLst/>
              <a:rect r="r" b="b" t="t" l="l"/>
              <a:pathLst>
                <a:path h="726242" w="671615">
                  <a:moveTo>
                    <a:pt x="273792" y="0"/>
                  </a:moveTo>
                  <a:lnTo>
                    <a:pt x="397823" y="0"/>
                  </a:lnTo>
                  <a:cubicBezTo>
                    <a:pt x="470437" y="0"/>
                    <a:pt x="540077" y="28846"/>
                    <a:pt x="591423" y="80192"/>
                  </a:cubicBezTo>
                  <a:cubicBezTo>
                    <a:pt x="642769" y="131538"/>
                    <a:pt x="671615" y="201177"/>
                    <a:pt x="671615" y="273792"/>
                  </a:cubicBezTo>
                  <a:lnTo>
                    <a:pt x="671615" y="452450"/>
                  </a:lnTo>
                  <a:cubicBezTo>
                    <a:pt x="671615" y="525065"/>
                    <a:pt x="642769" y="594704"/>
                    <a:pt x="591423" y="646050"/>
                  </a:cubicBezTo>
                  <a:cubicBezTo>
                    <a:pt x="540077" y="697396"/>
                    <a:pt x="470437" y="726242"/>
                    <a:pt x="397823" y="726242"/>
                  </a:cubicBezTo>
                  <a:lnTo>
                    <a:pt x="273792" y="726242"/>
                  </a:lnTo>
                  <a:cubicBezTo>
                    <a:pt x="201177" y="726242"/>
                    <a:pt x="131538" y="697396"/>
                    <a:pt x="80192" y="646050"/>
                  </a:cubicBezTo>
                  <a:cubicBezTo>
                    <a:pt x="28846" y="594704"/>
                    <a:pt x="0" y="525065"/>
                    <a:pt x="0" y="452450"/>
                  </a:cubicBezTo>
                  <a:lnTo>
                    <a:pt x="0" y="273792"/>
                  </a:lnTo>
                  <a:cubicBezTo>
                    <a:pt x="0" y="201177"/>
                    <a:pt x="28846" y="131538"/>
                    <a:pt x="80192" y="80192"/>
                  </a:cubicBezTo>
                  <a:cubicBezTo>
                    <a:pt x="131538" y="28846"/>
                    <a:pt x="201177" y="0"/>
                    <a:pt x="2737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82229" y="3913662"/>
            <a:ext cx="893520" cy="87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b="true" sz="508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01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2689058" y="5384800"/>
            <a:ext cx="5762566" cy="1559409"/>
            <a:chOff x="0" y="0"/>
            <a:chExt cx="2683721" cy="7262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83721" cy="726242"/>
            </a:xfrm>
            <a:custGeom>
              <a:avLst/>
              <a:gdLst/>
              <a:ahLst/>
              <a:cxnLst/>
              <a:rect r="r" b="b" t="t" l="l"/>
              <a:pathLst>
                <a:path h="726242" w="2683721">
                  <a:moveTo>
                    <a:pt x="68518" y="0"/>
                  </a:moveTo>
                  <a:lnTo>
                    <a:pt x="2615203" y="0"/>
                  </a:lnTo>
                  <a:cubicBezTo>
                    <a:pt x="2653044" y="0"/>
                    <a:pt x="2683721" y="30676"/>
                    <a:pt x="2683721" y="68518"/>
                  </a:cubicBezTo>
                  <a:lnTo>
                    <a:pt x="2683721" y="657724"/>
                  </a:lnTo>
                  <a:cubicBezTo>
                    <a:pt x="2683721" y="675896"/>
                    <a:pt x="2676502" y="693324"/>
                    <a:pt x="2663653" y="706174"/>
                  </a:cubicBezTo>
                  <a:cubicBezTo>
                    <a:pt x="2650803" y="719023"/>
                    <a:pt x="2633375" y="726242"/>
                    <a:pt x="2615203" y="726242"/>
                  </a:cubicBezTo>
                  <a:lnTo>
                    <a:pt x="68518" y="726242"/>
                  </a:lnTo>
                  <a:cubicBezTo>
                    <a:pt x="50346" y="726242"/>
                    <a:pt x="32918" y="719023"/>
                    <a:pt x="20068" y="706174"/>
                  </a:cubicBezTo>
                  <a:cubicBezTo>
                    <a:pt x="7219" y="693324"/>
                    <a:pt x="0" y="675896"/>
                    <a:pt x="0" y="657724"/>
                  </a:cubicBezTo>
                  <a:lnTo>
                    <a:pt x="0" y="68518"/>
                  </a:lnTo>
                  <a:cubicBezTo>
                    <a:pt x="0" y="50346"/>
                    <a:pt x="7219" y="32918"/>
                    <a:pt x="20068" y="20068"/>
                  </a:cubicBezTo>
                  <a:cubicBezTo>
                    <a:pt x="32918" y="7219"/>
                    <a:pt x="50346" y="0"/>
                    <a:pt x="6851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683721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945143" y="5586789"/>
            <a:ext cx="5209687" cy="109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16"/>
              </a:lnSpc>
            </a:pPr>
            <a:r>
              <a:rPr lang="en-US" sz="1583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Roll-Up (Product → Brand → Category)</a:t>
            </a:r>
          </a:p>
          <a:p>
            <a:pPr algn="just">
              <a:lnSpc>
                <a:spcPts val="2216"/>
              </a:lnSpc>
            </a:pPr>
            <a:r>
              <a:rPr lang="en-US" sz="158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Aggregating sales from product to brand level showed that MidasHome leads with $132,885, accounting for 32% of total revenue.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107933" y="5375760"/>
            <a:ext cx="1442112" cy="1559409"/>
            <a:chOff x="0" y="0"/>
            <a:chExt cx="671615" cy="72624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1615" cy="726242"/>
            </a:xfrm>
            <a:custGeom>
              <a:avLst/>
              <a:gdLst/>
              <a:ahLst/>
              <a:cxnLst/>
              <a:rect r="r" b="b" t="t" l="l"/>
              <a:pathLst>
                <a:path h="726242" w="671615">
                  <a:moveTo>
                    <a:pt x="273792" y="0"/>
                  </a:moveTo>
                  <a:lnTo>
                    <a:pt x="397823" y="0"/>
                  </a:lnTo>
                  <a:cubicBezTo>
                    <a:pt x="470437" y="0"/>
                    <a:pt x="540077" y="28846"/>
                    <a:pt x="591423" y="80192"/>
                  </a:cubicBezTo>
                  <a:cubicBezTo>
                    <a:pt x="642769" y="131538"/>
                    <a:pt x="671615" y="201177"/>
                    <a:pt x="671615" y="273792"/>
                  </a:cubicBezTo>
                  <a:lnTo>
                    <a:pt x="671615" y="452450"/>
                  </a:lnTo>
                  <a:cubicBezTo>
                    <a:pt x="671615" y="525065"/>
                    <a:pt x="642769" y="594704"/>
                    <a:pt x="591423" y="646050"/>
                  </a:cubicBezTo>
                  <a:cubicBezTo>
                    <a:pt x="540077" y="697396"/>
                    <a:pt x="470437" y="726242"/>
                    <a:pt x="397823" y="726242"/>
                  </a:cubicBezTo>
                  <a:lnTo>
                    <a:pt x="273792" y="726242"/>
                  </a:lnTo>
                  <a:cubicBezTo>
                    <a:pt x="201177" y="726242"/>
                    <a:pt x="131538" y="697396"/>
                    <a:pt x="80192" y="646050"/>
                  </a:cubicBezTo>
                  <a:cubicBezTo>
                    <a:pt x="28846" y="594704"/>
                    <a:pt x="0" y="525065"/>
                    <a:pt x="0" y="452450"/>
                  </a:cubicBezTo>
                  <a:lnTo>
                    <a:pt x="0" y="273792"/>
                  </a:lnTo>
                  <a:cubicBezTo>
                    <a:pt x="0" y="201177"/>
                    <a:pt x="28846" y="131538"/>
                    <a:pt x="80192" y="80192"/>
                  </a:cubicBezTo>
                  <a:cubicBezTo>
                    <a:pt x="131538" y="28846"/>
                    <a:pt x="201177" y="0"/>
                    <a:pt x="2737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1382229" y="5681417"/>
            <a:ext cx="893520" cy="87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b="true" sz="508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02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1417501" y="3626086"/>
            <a:ext cx="5762566" cy="1559409"/>
            <a:chOff x="0" y="0"/>
            <a:chExt cx="2683721" cy="72624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83721" cy="726242"/>
            </a:xfrm>
            <a:custGeom>
              <a:avLst/>
              <a:gdLst/>
              <a:ahLst/>
              <a:cxnLst/>
              <a:rect r="r" b="b" t="t" l="l"/>
              <a:pathLst>
                <a:path h="726242" w="2683721">
                  <a:moveTo>
                    <a:pt x="68518" y="0"/>
                  </a:moveTo>
                  <a:lnTo>
                    <a:pt x="2615203" y="0"/>
                  </a:lnTo>
                  <a:cubicBezTo>
                    <a:pt x="2653044" y="0"/>
                    <a:pt x="2683721" y="30676"/>
                    <a:pt x="2683721" y="68518"/>
                  </a:cubicBezTo>
                  <a:lnTo>
                    <a:pt x="2683721" y="657724"/>
                  </a:lnTo>
                  <a:cubicBezTo>
                    <a:pt x="2683721" y="675896"/>
                    <a:pt x="2676502" y="693324"/>
                    <a:pt x="2663653" y="706174"/>
                  </a:cubicBezTo>
                  <a:cubicBezTo>
                    <a:pt x="2650803" y="719023"/>
                    <a:pt x="2633375" y="726242"/>
                    <a:pt x="2615203" y="726242"/>
                  </a:cubicBezTo>
                  <a:lnTo>
                    <a:pt x="68518" y="726242"/>
                  </a:lnTo>
                  <a:cubicBezTo>
                    <a:pt x="50346" y="726242"/>
                    <a:pt x="32918" y="719023"/>
                    <a:pt x="20068" y="706174"/>
                  </a:cubicBezTo>
                  <a:cubicBezTo>
                    <a:pt x="7219" y="693324"/>
                    <a:pt x="0" y="675896"/>
                    <a:pt x="0" y="657724"/>
                  </a:cubicBezTo>
                  <a:lnTo>
                    <a:pt x="0" y="68518"/>
                  </a:lnTo>
                  <a:cubicBezTo>
                    <a:pt x="0" y="50346"/>
                    <a:pt x="7219" y="32918"/>
                    <a:pt x="20068" y="20068"/>
                  </a:cubicBezTo>
                  <a:cubicBezTo>
                    <a:pt x="32918" y="7219"/>
                    <a:pt x="50346" y="0"/>
                    <a:pt x="6851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683721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1703465" y="3973947"/>
            <a:ext cx="5209687" cy="817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16"/>
              </a:lnSpc>
            </a:pPr>
            <a:r>
              <a:rPr lang="en-US" sz="158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1583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Slice (Filter one dimension)</a:t>
            </a:r>
          </a:p>
          <a:p>
            <a:pPr algn="just">
              <a:lnSpc>
                <a:spcPts val="2216"/>
              </a:lnSpc>
            </a:pPr>
            <a:r>
              <a:rPr lang="en-US" sz="158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Focusing on a single dimension, field sales contributed 61.5% of total revenue.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9836376" y="3617046"/>
            <a:ext cx="1442112" cy="1559409"/>
            <a:chOff x="0" y="0"/>
            <a:chExt cx="671615" cy="72624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1615" cy="726242"/>
            </a:xfrm>
            <a:custGeom>
              <a:avLst/>
              <a:gdLst/>
              <a:ahLst/>
              <a:cxnLst/>
              <a:rect r="r" b="b" t="t" l="l"/>
              <a:pathLst>
                <a:path h="726242" w="671615">
                  <a:moveTo>
                    <a:pt x="273792" y="0"/>
                  </a:moveTo>
                  <a:lnTo>
                    <a:pt x="397823" y="0"/>
                  </a:lnTo>
                  <a:cubicBezTo>
                    <a:pt x="470437" y="0"/>
                    <a:pt x="540077" y="28846"/>
                    <a:pt x="591423" y="80192"/>
                  </a:cubicBezTo>
                  <a:cubicBezTo>
                    <a:pt x="642769" y="131538"/>
                    <a:pt x="671615" y="201177"/>
                    <a:pt x="671615" y="273792"/>
                  </a:cubicBezTo>
                  <a:lnTo>
                    <a:pt x="671615" y="452450"/>
                  </a:lnTo>
                  <a:cubicBezTo>
                    <a:pt x="671615" y="525065"/>
                    <a:pt x="642769" y="594704"/>
                    <a:pt x="591423" y="646050"/>
                  </a:cubicBezTo>
                  <a:cubicBezTo>
                    <a:pt x="540077" y="697396"/>
                    <a:pt x="470437" y="726242"/>
                    <a:pt x="397823" y="726242"/>
                  </a:cubicBezTo>
                  <a:lnTo>
                    <a:pt x="273792" y="726242"/>
                  </a:lnTo>
                  <a:cubicBezTo>
                    <a:pt x="201177" y="726242"/>
                    <a:pt x="131538" y="697396"/>
                    <a:pt x="80192" y="646050"/>
                  </a:cubicBezTo>
                  <a:cubicBezTo>
                    <a:pt x="28846" y="594704"/>
                    <a:pt x="0" y="525065"/>
                    <a:pt x="0" y="452450"/>
                  </a:cubicBezTo>
                  <a:lnTo>
                    <a:pt x="0" y="273792"/>
                  </a:lnTo>
                  <a:cubicBezTo>
                    <a:pt x="0" y="201177"/>
                    <a:pt x="28846" y="131538"/>
                    <a:pt x="80192" y="80192"/>
                  </a:cubicBezTo>
                  <a:cubicBezTo>
                    <a:pt x="131538" y="28846"/>
                    <a:pt x="201177" y="0"/>
                    <a:pt x="2737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0110672" y="3922703"/>
            <a:ext cx="893520" cy="87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b="true" sz="508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03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1417501" y="5393841"/>
            <a:ext cx="5762566" cy="1559409"/>
            <a:chOff x="0" y="0"/>
            <a:chExt cx="2683721" cy="72624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683721" cy="726242"/>
            </a:xfrm>
            <a:custGeom>
              <a:avLst/>
              <a:gdLst/>
              <a:ahLst/>
              <a:cxnLst/>
              <a:rect r="r" b="b" t="t" l="l"/>
              <a:pathLst>
                <a:path h="726242" w="2683721">
                  <a:moveTo>
                    <a:pt x="68518" y="0"/>
                  </a:moveTo>
                  <a:lnTo>
                    <a:pt x="2615203" y="0"/>
                  </a:lnTo>
                  <a:cubicBezTo>
                    <a:pt x="2653044" y="0"/>
                    <a:pt x="2683721" y="30676"/>
                    <a:pt x="2683721" y="68518"/>
                  </a:cubicBezTo>
                  <a:lnTo>
                    <a:pt x="2683721" y="657724"/>
                  </a:lnTo>
                  <a:cubicBezTo>
                    <a:pt x="2683721" y="675896"/>
                    <a:pt x="2676502" y="693324"/>
                    <a:pt x="2663653" y="706174"/>
                  </a:cubicBezTo>
                  <a:cubicBezTo>
                    <a:pt x="2650803" y="719023"/>
                    <a:pt x="2633375" y="726242"/>
                    <a:pt x="2615203" y="726242"/>
                  </a:cubicBezTo>
                  <a:lnTo>
                    <a:pt x="68518" y="726242"/>
                  </a:lnTo>
                  <a:cubicBezTo>
                    <a:pt x="50346" y="726242"/>
                    <a:pt x="32918" y="719023"/>
                    <a:pt x="20068" y="706174"/>
                  </a:cubicBezTo>
                  <a:cubicBezTo>
                    <a:pt x="7219" y="693324"/>
                    <a:pt x="0" y="675896"/>
                    <a:pt x="0" y="657724"/>
                  </a:cubicBezTo>
                  <a:lnTo>
                    <a:pt x="0" y="68518"/>
                  </a:lnTo>
                  <a:cubicBezTo>
                    <a:pt x="0" y="50346"/>
                    <a:pt x="7219" y="32918"/>
                    <a:pt x="20068" y="20068"/>
                  </a:cubicBezTo>
                  <a:cubicBezTo>
                    <a:pt x="32918" y="7219"/>
                    <a:pt x="50346" y="0"/>
                    <a:pt x="6851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2683721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11673586" y="5595830"/>
            <a:ext cx="5209687" cy="109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16"/>
              </a:lnSpc>
            </a:pPr>
            <a:r>
              <a:rPr lang="en-US" sz="1583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Dice (Multi-filter)</a:t>
            </a:r>
          </a:p>
          <a:p>
            <a:pPr algn="just">
              <a:lnSpc>
                <a:spcPts val="2216"/>
              </a:lnSpc>
            </a:pPr>
            <a:r>
              <a:rPr lang="en-US" sz="158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Applying multiple filters—MidasPro, January, and Field sales—revealed that the LED TV 55" was the top performer.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836376" y="5384800"/>
            <a:ext cx="1442112" cy="1559409"/>
            <a:chOff x="0" y="0"/>
            <a:chExt cx="671615" cy="726242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71615" cy="726242"/>
            </a:xfrm>
            <a:custGeom>
              <a:avLst/>
              <a:gdLst/>
              <a:ahLst/>
              <a:cxnLst/>
              <a:rect r="r" b="b" t="t" l="l"/>
              <a:pathLst>
                <a:path h="726242" w="671615">
                  <a:moveTo>
                    <a:pt x="273792" y="0"/>
                  </a:moveTo>
                  <a:lnTo>
                    <a:pt x="397823" y="0"/>
                  </a:lnTo>
                  <a:cubicBezTo>
                    <a:pt x="470437" y="0"/>
                    <a:pt x="540077" y="28846"/>
                    <a:pt x="591423" y="80192"/>
                  </a:cubicBezTo>
                  <a:cubicBezTo>
                    <a:pt x="642769" y="131538"/>
                    <a:pt x="671615" y="201177"/>
                    <a:pt x="671615" y="273792"/>
                  </a:cubicBezTo>
                  <a:lnTo>
                    <a:pt x="671615" y="452450"/>
                  </a:lnTo>
                  <a:cubicBezTo>
                    <a:pt x="671615" y="525065"/>
                    <a:pt x="642769" y="594704"/>
                    <a:pt x="591423" y="646050"/>
                  </a:cubicBezTo>
                  <a:cubicBezTo>
                    <a:pt x="540077" y="697396"/>
                    <a:pt x="470437" y="726242"/>
                    <a:pt x="397823" y="726242"/>
                  </a:cubicBezTo>
                  <a:lnTo>
                    <a:pt x="273792" y="726242"/>
                  </a:lnTo>
                  <a:cubicBezTo>
                    <a:pt x="201177" y="726242"/>
                    <a:pt x="131538" y="697396"/>
                    <a:pt x="80192" y="646050"/>
                  </a:cubicBezTo>
                  <a:cubicBezTo>
                    <a:pt x="28846" y="594704"/>
                    <a:pt x="0" y="525065"/>
                    <a:pt x="0" y="452450"/>
                  </a:cubicBezTo>
                  <a:lnTo>
                    <a:pt x="0" y="273792"/>
                  </a:lnTo>
                  <a:cubicBezTo>
                    <a:pt x="0" y="201177"/>
                    <a:pt x="28846" y="131538"/>
                    <a:pt x="80192" y="80192"/>
                  </a:cubicBezTo>
                  <a:cubicBezTo>
                    <a:pt x="131538" y="28846"/>
                    <a:pt x="201177" y="0"/>
                    <a:pt x="2737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0110672" y="5690458"/>
            <a:ext cx="893520" cy="87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b="true" sz="508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04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6804231" y="7698891"/>
            <a:ext cx="5762566" cy="1559409"/>
            <a:chOff x="0" y="0"/>
            <a:chExt cx="2683721" cy="72624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683721" cy="726242"/>
            </a:xfrm>
            <a:custGeom>
              <a:avLst/>
              <a:gdLst/>
              <a:ahLst/>
              <a:cxnLst/>
              <a:rect r="r" b="b" t="t" l="l"/>
              <a:pathLst>
                <a:path h="726242" w="2683721">
                  <a:moveTo>
                    <a:pt x="68518" y="0"/>
                  </a:moveTo>
                  <a:lnTo>
                    <a:pt x="2615203" y="0"/>
                  </a:lnTo>
                  <a:cubicBezTo>
                    <a:pt x="2653044" y="0"/>
                    <a:pt x="2683721" y="30676"/>
                    <a:pt x="2683721" y="68518"/>
                  </a:cubicBezTo>
                  <a:lnTo>
                    <a:pt x="2683721" y="657724"/>
                  </a:lnTo>
                  <a:cubicBezTo>
                    <a:pt x="2683721" y="675896"/>
                    <a:pt x="2676502" y="693324"/>
                    <a:pt x="2663653" y="706174"/>
                  </a:cubicBezTo>
                  <a:cubicBezTo>
                    <a:pt x="2650803" y="719023"/>
                    <a:pt x="2633375" y="726242"/>
                    <a:pt x="2615203" y="726242"/>
                  </a:cubicBezTo>
                  <a:lnTo>
                    <a:pt x="68518" y="726242"/>
                  </a:lnTo>
                  <a:cubicBezTo>
                    <a:pt x="50346" y="726242"/>
                    <a:pt x="32918" y="719023"/>
                    <a:pt x="20068" y="706174"/>
                  </a:cubicBezTo>
                  <a:cubicBezTo>
                    <a:pt x="7219" y="693324"/>
                    <a:pt x="0" y="675896"/>
                    <a:pt x="0" y="657724"/>
                  </a:cubicBezTo>
                  <a:lnTo>
                    <a:pt x="0" y="68518"/>
                  </a:lnTo>
                  <a:cubicBezTo>
                    <a:pt x="0" y="50346"/>
                    <a:pt x="7219" y="32918"/>
                    <a:pt x="20068" y="20068"/>
                  </a:cubicBezTo>
                  <a:cubicBezTo>
                    <a:pt x="32918" y="7219"/>
                    <a:pt x="50346" y="0"/>
                    <a:pt x="68518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2683721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0" id="50"/>
          <p:cNvSpPr txBox="true"/>
          <p:nvPr/>
        </p:nvSpPr>
        <p:spPr>
          <a:xfrm rot="0">
            <a:off x="7060316" y="7900880"/>
            <a:ext cx="5209687" cy="1093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16"/>
              </a:lnSpc>
            </a:pPr>
            <a:r>
              <a:rPr lang="en-US" sz="1583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Pivot (Cross-tabulation)</a:t>
            </a:r>
          </a:p>
          <a:p>
            <a:pPr algn="just">
              <a:lnSpc>
                <a:spcPts val="2216"/>
              </a:lnSpc>
            </a:pPr>
            <a:r>
              <a:rPr lang="en-US" sz="1583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 pivot table (heatmap) comparing month vs. brand revenue highlights trends and patterns across the dataset.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5223106" y="7689850"/>
            <a:ext cx="1442112" cy="1559409"/>
            <a:chOff x="0" y="0"/>
            <a:chExt cx="671615" cy="72624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71615" cy="726242"/>
            </a:xfrm>
            <a:custGeom>
              <a:avLst/>
              <a:gdLst/>
              <a:ahLst/>
              <a:cxnLst/>
              <a:rect r="r" b="b" t="t" l="l"/>
              <a:pathLst>
                <a:path h="726242" w="671615">
                  <a:moveTo>
                    <a:pt x="273792" y="0"/>
                  </a:moveTo>
                  <a:lnTo>
                    <a:pt x="397823" y="0"/>
                  </a:lnTo>
                  <a:cubicBezTo>
                    <a:pt x="470437" y="0"/>
                    <a:pt x="540077" y="28846"/>
                    <a:pt x="591423" y="80192"/>
                  </a:cubicBezTo>
                  <a:cubicBezTo>
                    <a:pt x="642769" y="131538"/>
                    <a:pt x="671615" y="201177"/>
                    <a:pt x="671615" y="273792"/>
                  </a:cubicBezTo>
                  <a:lnTo>
                    <a:pt x="671615" y="452450"/>
                  </a:lnTo>
                  <a:cubicBezTo>
                    <a:pt x="671615" y="525065"/>
                    <a:pt x="642769" y="594704"/>
                    <a:pt x="591423" y="646050"/>
                  </a:cubicBezTo>
                  <a:cubicBezTo>
                    <a:pt x="540077" y="697396"/>
                    <a:pt x="470437" y="726242"/>
                    <a:pt x="397823" y="726242"/>
                  </a:cubicBezTo>
                  <a:lnTo>
                    <a:pt x="273792" y="726242"/>
                  </a:lnTo>
                  <a:cubicBezTo>
                    <a:pt x="201177" y="726242"/>
                    <a:pt x="131538" y="697396"/>
                    <a:pt x="80192" y="646050"/>
                  </a:cubicBezTo>
                  <a:cubicBezTo>
                    <a:pt x="28846" y="594704"/>
                    <a:pt x="0" y="525065"/>
                    <a:pt x="0" y="452450"/>
                  </a:cubicBezTo>
                  <a:lnTo>
                    <a:pt x="0" y="273792"/>
                  </a:lnTo>
                  <a:cubicBezTo>
                    <a:pt x="0" y="201177"/>
                    <a:pt x="28846" y="131538"/>
                    <a:pt x="80192" y="80192"/>
                  </a:cubicBezTo>
                  <a:cubicBezTo>
                    <a:pt x="131538" y="28846"/>
                    <a:pt x="201177" y="0"/>
                    <a:pt x="27379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5497402" y="7995508"/>
            <a:ext cx="893520" cy="870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25"/>
              </a:lnSpc>
            </a:pPr>
            <a:r>
              <a:rPr lang="en-US" b="true" sz="508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05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6052" y="3512863"/>
            <a:ext cx="4488373" cy="4150486"/>
            <a:chOff x="0" y="0"/>
            <a:chExt cx="1368237" cy="126523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68237" cy="1265236"/>
            </a:xfrm>
            <a:custGeom>
              <a:avLst/>
              <a:gdLst/>
              <a:ahLst/>
              <a:cxnLst/>
              <a:rect r="r" b="b" t="t" l="l"/>
              <a:pathLst>
                <a:path h="1265236" w="1368237">
                  <a:moveTo>
                    <a:pt x="55196" y="0"/>
                  </a:moveTo>
                  <a:lnTo>
                    <a:pt x="1313041" y="0"/>
                  </a:lnTo>
                  <a:cubicBezTo>
                    <a:pt x="1327680" y="0"/>
                    <a:pt x="1341719" y="5815"/>
                    <a:pt x="1352070" y="16167"/>
                  </a:cubicBezTo>
                  <a:cubicBezTo>
                    <a:pt x="1362422" y="26518"/>
                    <a:pt x="1368237" y="40557"/>
                    <a:pt x="1368237" y="55196"/>
                  </a:cubicBezTo>
                  <a:lnTo>
                    <a:pt x="1368237" y="1210039"/>
                  </a:lnTo>
                  <a:cubicBezTo>
                    <a:pt x="1368237" y="1224678"/>
                    <a:pt x="1362422" y="1238718"/>
                    <a:pt x="1352070" y="1249069"/>
                  </a:cubicBezTo>
                  <a:cubicBezTo>
                    <a:pt x="1341719" y="1259420"/>
                    <a:pt x="1327680" y="1265236"/>
                    <a:pt x="1313041" y="1265236"/>
                  </a:cubicBezTo>
                  <a:lnTo>
                    <a:pt x="55196" y="1265236"/>
                  </a:lnTo>
                  <a:cubicBezTo>
                    <a:pt x="40557" y="1265236"/>
                    <a:pt x="26518" y="1259420"/>
                    <a:pt x="16167" y="1249069"/>
                  </a:cubicBezTo>
                  <a:cubicBezTo>
                    <a:pt x="5815" y="1238718"/>
                    <a:pt x="0" y="1224678"/>
                    <a:pt x="0" y="1210039"/>
                  </a:cubicBezTo>
                  <a:lnTo>
                    <a:pt x="0" y="55196"/>
                  </a:lnTo>
                  <a:cubicBezTo>
                    <a:pt x="0" y="40557"/>
                    <a:pt x="5815" y="26518"/>
                    <a:pt x="16167" y="16167"/>
                  </a:cubicBezTo>
                  <a:cubicBezTo>
                    <a:pt x="26518" y="5815"/>
                    <a:pt x="40557" y="0"/>
                    <a:pt x="551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68237" cy="1303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918386" y="7910709"/>
            <a:ext cx="3121467" cy="1050583"/>
            <a:chOff x="0" y="0"/>
            <a:chExt cx="2414972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14972" cy="812800"/>
            </a:xfrm>
            <a:custGeom>
              <a:avLst/>
              <a:gdLst/>
              <a:ahLst/>
              <a:cxnLst/>
              <a:rect r="r" b="b" t="t" l="l"/>
              <a:pathLst>
                <a:path h="812800" w="2414972">
                  <a:moveTo>
                    <a:pt x="1207486" y="0"/>
                  </a:moveTo>
                  <a:cubicBezTo>
                    <a:pt x="540610" y="0"/>
                    <a:pt x="0" y="181951"/>
                    <a:pt x="0" y="406400"/>
                  </a:cubicBezTo>
                  <a:cubicBezTo>
                    <a:pt x="0" y="630849"/>
                    <a:pt x="540610" y="812800"/>
                    <a:pt x="1207486" y="812800"/>
                  </a:cubicBezTo>
                  <a:cubicBezTo>
                    <a:pt x="1874362" y="812800"/>
                    <a:pt x="2414972" y="630849"/>
                    <a:pt x="2414972" y="406400"/>
                  </a:cubicBezTo>
                  <a:cubicBezTo>
                    <a:pt x="2414972" y="181951"/>
                    <a:pt x="1874362" y="0"/>
                    <a:pt x="1207486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26404" y="38100"/>
              <a:ext cx="1962165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899814" y="3512863"/>
            <a:ext cx="4488373" cy="4150486"/>
            <a:chOff x="0" y="0"/>
            <a:chExt cx="1368237" cy="12652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68237" cy="1265236"/>
            </a:xfrm>
            <a:custGeom>
              <a:avLst/>
              <a:gdLst/>
              <a:ahLst/>
              <a:cxnLst/>
              <a:rect r="r" b="b" t="t" l="l"/>
              <a:pathLst>
                <a:path h="1265236" w="1368237">
                  <a:moveTo>
                    <a:pt x="55196" y="0"/>
                  </a:moveTo>
                  <a:lnTo>
                    <a:pt x="1313041" y="0"/>
                  </a:lnTo>
                  <a:cubicBezTo>
                    <a:pt x="1327680" y="0"/>
                    <a:pt x="1341719" y="5815"/>
                    <a:pt x="1352070" y="16167"/>
                  </a:cubicBezTo>
                  <a:cubicBezTo>
                    <a:pt x="1362422" y="26518"/>
                    <a:pt x="1368237" y="40557"/>
                    <a:pt x="1368237" y="55196"/>
                  </a:cubicBezTo>
                  <a:lnTo>
                    <a:pt x="1368237" y="1210039"/>
                  </a:lnTo>
                  <a:cubicBezTo>
                    <a:pt x="1368237" y="1224678"/>
                    <a:pt x="1362422" y="1238718"/>
                    <a:pt x="1352070" y="1249069"/>
                  </a:cubicBezTo>
                  <a:cubicBezTo>
                    <a:pt x="1341719" y="1259420"/>
                    <a:pt x="1327680" y="1265236"/>
                    <a:pt x="1313041" y="1265236"/>
                  </a:cubicBezTo>
                  <a:lnTo>
                    <a:pt x="55196" y="1265236"/>
                  </a:lnTo>
                  <a:cubicBezTo>
                    <a:pt x="40557" y="1265236"/>
                    <a:pt x="26518" y="1259420"/>
                    <a:pt x="16167" y="1249069"/>
                  </a:cubicBezTo>
                  <a:cubicBezTo>
                    <a:pt x="5815" y="1238718"/>
                    <a:pt x="0" y="1224678"/>
                    <a:pt x="0" y="1210039"/>
                  </a:cubicBezTo>
                  <a:lnTo>
                    <a:pt x="0" y="55196"/>
                  </a:lnTo>
                  <a:cubicBezTo>
                    <a:pt x="0" y="40557"/>
                    <a:pt x="5815" y="26518"/>
                    <a:pt x="16167" y="16167"/>
                  </a:cubicBezTo>
                  <a:cubicBezTo>
                    <a:pt x="26518" y="5815"/>
                    <a:pt x="40557" y="0"/>
                    <a:pt x="551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68237" cy="1303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483575" y="3512863"/>
            <a:ext cx="4488373" cy="4150486"/>
            <a:chOff x="0" y="0"/>
            <a:chExt cx="1368237" cy="12652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68237" cy="1265236"/>
            </a:xfrm>
            <a:custGeom>
              <a:avLst/>
              <a:gdLst/>
              <a:ahLst/>
              <a:cxnLst/>
              <a:rect r="r" b="b" t="t" l="l"/>
              <a:pathLst>
                <a:path h="1265236" w="1368237">
                  <a:moveTo>
                    <a:pt x="55196" y="0"/>
                  </a:moveTo>
                  <a:lnTo>
                    <a:pt x="1313041" y="0"/>
                  </a:lnTo>
                  <a:cubicBezTo>
                    <a:pt x="1327680" y="0"/>
                    <a:pt x="1341719" y="5815"/>
                    <a:pt x="1352070" y="16167"/>
                  </a:cubicBezTo>
                  <a:cubicBezTo>
                    <a:pt x="1362422" y="26518"/>
                    <a:pt x="1368237" y="40557"/>
                    <a:pt x="1368237" y="55196"/>
                  </a:cubicBezTo>
                  <a:lnTo>
                    <a:pt x="1368237" y="1210039"/>
                  </a:lnTo>
                  <a:cubicBezTo>
                    <a:pt x="1368237" y="1224678"/>
                    <a:pt x="1362422" y="1238718"/>
                    <a:pt x="1352070" y="1249069"/>
                  </a:cubicBezTo>
                  <a:cubicBezTo>
                    <a:pt x="1341719" y="1259420"/>
                    <a:pt x="1327680" y="1265236"/>
                    <a:pt x="1313041" y="1265236"/>
                  </a:cubicBezTo>
                  <a:lnTo>
                    <a:pt x="55196" y="1265236"/>
                  </a:lnTo>
                  <a:cubicBezTo>
                    <a:pt x="40557" y="1265236"/>
                    <a:pt x="26518" y="1259420"/>
                    <a:pt x="16167" y="1249069"/>
                  </a:cubicBezTo>
                  <a:cubicBezTo>
                    <a:pt x="5815" y="1238718"/>
                    <a:pt x="0" y="1224678"/>
                    <a:pt x="0" y="1210039"/>
                  </a:cubicBezTo>
                  <a:lnTo>
                    <a:pt x="0" y="55196"/>
                  </a:lnTo>
                  <a:cubicBezTo>
                    <a:pt x="0" y="40557"/>
                    <a:pt x="5815" y="26518"/>
                    <a:pt x="16167" y="16167"/>
                  </a:cubicBezTo>
                  <a:cubicBezTo>
                    <a:pt x="26518" y="5815"/>
                    <a:pt x="40557" y="0"/>
                    <a:pt x="55196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68237" cy="13033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198079" y="826813"/>
            <a:ext cx="1389184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KEY BUSINESS INSIGHTS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35495" y="3973544"/>
            <a:ext cx="3845093" cy="3181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</a:pPr>
            <a:r>
              <a:rPr lang="en-US" sz="261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March outperformed other months by 12%, revealing a clear seasonal pattern. </a:t>
            </a:r>
          </a:p>
          <a:p>
            <a:pPr algn="l">
              <a:lnSpc>
                <a:spcPts val="3666"/>
              </a:lnSpc>
            </a:pPr>
            <a:r>
              <a:rPr lang="en-US" sz="261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Q1-end promotions proved to be highly successful.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5902" y="2312713"/>
            <a:ext cx="4435064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sz="3199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What The Data Tells Us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55294" y="8137233"/>
            <a:ext cx="3146797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>
                <a:solidFill>
                  <a:srgbClr val="EBEBEB"/>
                </a:solidFill>
                <a:latin typeface="Nunito"/>
                <a:ea typeface="Nunito"/>
                <a:cs typeface="Nunito"/>
                <a:sym typeface="Nunito"/>
              </a:rPr>
              <a:t>Revenue</a:t>
            </a:r>
            <a:r>
              <a:rPr lang="en-US" sz="3099">
                <a:solidFill>
                  <a:srgbClr val="EBEBEB"/>
                </a:solidFill>
                <a:latin typeface="Nunito"/>
                <a:ea typeface="Nunito"/>
                <a:cs typeface="Nunito"/>
                <a:sym typeface="Nunito"/>
              </a:rPr>
              <a:t> Trends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21453" y="3744944"/>
            <a:ext cx="3845093" cy="3638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</a:pPr>
            <a:r>
              <a:rPr lang="en-US" sz="261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The Washing Machine 7kg led sales at $42,917. Field sales accounted for 61.5% of revenue, making it a critical channel, while Kitchen Appliances topped the category with $149K.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805215" y="3744944"/>
            <a:ext cx="3845093" cy="3638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6"/>
              </a:lnSpc>
            </a:pPr>
            <a:r>
              <a:rPr lang="en-US" sz="261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MidasHome is growing steadily. Budget shoppers are 26% of customers perfect for loyalty programs. </a:t>
            </a:r>
          </a:p>
          <a:p>
            <a:pPr algn="l">
              <a:lnSpc>
                <a:spcPts val="3666"/>
              </a:lnSpc>
            </a:pPr>
            <a:r>
              <a:rPr lang="en-US" sz="261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Email marketing shows a 790% ROI, highlighting expansion potential.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508768" y="7910709"/>
            <a:ext cx="3277085" cy="1102959"/>
            <a:chOff x="0" y="0"/>
            <a:chExt cx="2414972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414972" cy="812800"/>
            </a:xfrm>
            <a:custGeom>
              <a:avLst/>
              <a:gdLst/>
              <a:ahLst/>
              <a:cxnLst/>
              <a:rect r="r" b="b" t="t" l="l"/>
              <a:pathLst>
                <a:path h="812800" w="2414972">
                  <a:moveTo>
                    <a:pt x="1207486" y="0"/>
                  </a:moveTo>
                  <a:cubicBezTo>
                    <a:pt x="540610" y="0"/>
                    <a:pt x="0" y="181951"/>
                    <a:pt x="0" y="406400"/>
                  </a:cubicBezTo>
                  <a:cubicBezTo>
                    <a:pt x="0" y="630849"/>
                    <a:pt x="540610" y="812800"/>
                    <a:pt x="1207486" y="812800"/>
                  </a:cubicBezTo>
                  <a:cubicBezTo>
                    <a:pt x="1874362" y="812800"/>
                    <a:pt x="2414972" y="630849"/>
                    <a:pt x="2414972" y="406400"/>
                  </a:cubicBezTo>
                  <a:cubicBezTo>
                    <a:pt x="2414972" y="181951"/>
                    <a:pt x="1874362" y="0"/>
                    <a:pt x="1207486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226404" y="38100"/>
              <a:ext cx="1962165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7639056" y="8137233"/>
            <a:ext cx="3146797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>
                <a:solidFill>
                  <a:srgbClr val="EBEBEB"/>
                </a:solidFill>
                <a:latin typeface="Nunito"/>
                <a:ea typeface="Nunito"/>
                <a:cs typeface="Nunito"/>
                <a:sym typeface="Nunito"/>
              </a:rPr>
              <a:t>Top Performance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085908" y="7910709"/>
            <a:ext cx="3121467" cy="1050583"/>
            <a:chOff x="0" y="0"/>
            <a:chExt cx="2414972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14972" cy="812800"/>
            </a:xfrm>
            <a:custGeom>
              <a:avLst/>
              <a:gdLst/>
              <a:ahLst/>
              <a:cxnLst/>
              <a:rect r="r" b="b" t="t" l="l"/>
              <a:pathLst>
                <a:path h="812800" w="2414972">
                  <a:moveTo>
                    <a:pt x="1207486" y="0"/>
                  </a:moveTo>
                  <a:cubicBezTo>
                    <a:pt x="540610" y="0"/>
                    <a:pt x="0" y="181951"/>
                    <a:pt x="0" y="406400"/>
                  </a:cubicBezTo>
                  <a:cubicBezTo>
                    <a:pt x="0" y="630849"/>
                    <a:pt x="540610" y="812800"/>
                    <a:pt x="1207486" y="812800"/>
                  </a:cubicBezTo>
                  <a:cubicBezTo>
                    <a:pt x="1874362" y="812800"/>
                    <a:pt x="2414972" y="630849"/>
                    <a:pt x="2414972" y="406400"/>
                  </a:cubicBezTo>
                  <a:cubicBezTo>
                    <a:pt x="2414972" y="181951"/>
                    <a:pt x="1874362" y="0"/>
                    <a:pt x="1207486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226404" y="38100"/>
              <a:ext cx="1962165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470237" y="8137233"/>
            <a:ext cx="2515048" cy="530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339"/>
              </a:lnSpc>
            </a:pPr>
            <a:r>
              <a:rPr lang="en-US" sz="3099">
                <a:solidFill>
                  <a:srgbClr val="EBEBEB"/>
                </a:solidFill>
                <a:latin typeface="Nunito"/>
                <a:ea typeface="Nunito"/>
                <a:cs typeface="Nunito"/>
                <a:sym typeface="Nunito"/>
              </a:rPr>
              <a:t>Opportunities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44950" y="641958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100117" y="677474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80160" y="8704633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7513083" y="7187716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223255" y="1417107"/>
            <a:ext cx="13841490" cy="121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40"/>
              </a:lnSpc>
            </a:pPr>
            <a:r>
              <a:rPr lang="en-US" b="true" sz="71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MACHINE LEARNING OVERVIEW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440871" y="3137618"/>
            <a:ext cx="7450521" cy="2016186"/>
            <a:chOff x="0" y="0"/>
            <a:chExt cx="2683721" cy="7262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83721" cy="726242"/>
            </a:xfrm>
            <a:custGeom>
              <a:avLst/>
              <a:gdLst/>
              <a:ahLst/>
              <a:cxnLst/>
              <a:rect r="r" b="b" t="t" l="l"/>
              <a:pathLst>
                <a:path h="726242" w="2683721">
                  <a:moveTo>
                    <a:pt x="52995" y="0"/>
                  </a:moveTo>
                  <a:lnTo>
                    <a:pt x="2630726" y="0"/>
                  </a:lnTo>
                  <a:cubicBezTo>
                    <a:pt x="2659994" y="0"/>
                    <a:pt x="2683721" y="23727"/>
                    <a:pt x="2683721" y="52995"/>
                  </a:cubicBezTo>
                  <a:lnTo>
                    <a:pt x="2683721" y="673247"/>
                  </a:lnTo>
                  <a:cubicBezTo>
                    <a:pt x="2683721" y="702516"/>
                    <a:pt x="2659994" y="726242"/>
                    <a:pt x="2630726" y="726242"/>
                  </a:cubicBezTo>
                  <a:lnTo>
                    <a:pt x="52995" y="726242"/>
                  </a:lnTo>
                  <a:cubicBezTo>
                    <a:pt x="23727" y="726242"/>
                    <a:pt x="0" y="702516"/>
                    <a:pt x="0" y="673247"/>
                  </a:cubicBezTo>
                  <a:lnTo>
                    <a:pt x="0" y="52995"/>
                  </a:lnTo>
                  <a:cubicBezTo>
                    <a:pt x="0" y="23727"/>
                    <a:pt x="23727" y="0"/>
                    <a:pt x="529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683721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798285" y="3540839"/>
            <a:ext cx="6735694" cy="1162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46"/>
              </a:lnSpc>
            </a:pPr>
            <a:r>
              <a:rPr lang="en-US" sz="2247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Customer Segmentation</a:t>
            </a:r>
          </a:p>
          <a:p>
            <a:pPr algn="just" marL="485190" indent="-242595" lvl="1">
              <a:lnSpc>
                <a:spcPts val="3146"/>
              </a:lnSpc>
              <a:buFont typeface="Arial"/>
              <a:buChar char="•"/>
            </a:pPr>
            <a:r>
              <a:rPr lang="en-US" sz="22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K-Means Clustering</a:t>
            </a:r>
          </a:p>
          <a:p>
            <a:pPr algn="just" marL="485190" indent="-242595" lvl="1">
              <a:lnSpc>
                <a:spcPts val="3146"/>
              </a:lnSpc>
              <a:buFont typeface="Arial"/>
              <a:buChar char="•"/>
            </a:pPr>
            <a:r>
              <a:rPr lang="en-US" sz="22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Identified 3 distinct customer groups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396608" y="3125929"/>
            <a:ext cx="1864531" cy="2016186"/>
            <a:chOff x="0" y="0"/>
            <a:chExt cx="671615" cy="7262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1615" cy="726242"/>
            </a:xfrm>
            <a:custGeom>
              <a:avLst/>
              <a:gdLst/>
              <a:ahLst/>
              <a:cxnLst/>
              <a:rect r="r" b="b" t="t" l="l"/>
              <a:pathLst>
                <a:path h="726242" w="671615">
                  <a:moveTo>
                    <a:pt x="211763" y="0"/>
                  </a:moveTo>
                  <a:lnTo>
                    <a:pt x="459852" y="0"/>
                  </a:lnTo>
                  <a:cubicBezTo>
                    <a:pt x="516015" y="0"/>
                    <a:pt x="569878" y="22311"/>
                    <a:pt x="609591" y="62024"/>
                  </a:cubicBezTo>
                  <a:cubicBezTo>
                    <a:pt x="649304" y="101737"/>
                    <a:pt x="671615" y="155600"/>
                    <a:pt x="671615" y="211763"/>
                  </a:cubicBezTo>
                  <a:lnTo>
                    <a:pt x="671615" y="514479"/>
                  </a:lnTo>
                  <a:cubicBezTo>
                    <a:pt x="671615" y="631433"/>
                    <a:pt x="576805" y="726242"/>
                    <a:pt x="459852" y="726242"/>
                  </a:cubicBezTo>
                  <a:lnTo>
                    <a:pt x="211763" y="726242"/>
                  </a:lnTo>
                  <a:cubicBezTo>
                    <a:pt x="94809" y="726242"/>
                    <a:pt x="0" y="631433"/>
                    <a:pt x="0" y="514479"/>
                  </a:cubicBezTo>
                  <a:lnTo>
                    <a:pt x="0" y="211763"/>
                  </a:lnTo>
                  <a:cubicBezTo>
                    <a:pt x="0" y="94809"/>
                    <a:pt x="94809" y="0"/>
                    <a:pt x="21176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751249" y="3510919"/>
            <a:ext cx="1155248" cy="113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12"/>
              </a:lnSpc>
            </a:pPr>
            <a:r>
              <a:rPr lang="en-US" b="true" sz="658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01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440871" y="5423179"/>
            <a:ext cx="7450521" cy="2016186"/>
            <a:chOff x="0" y="0"/>
            <a:chExt cx="2683721" cy="7262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83721" cy="726242"/>
            </a:xfrm>
            <a:custGeom>
              <a:avLst/>
              <a:gdLst/>
              <a:ahLst/>
              <a:cxnLst/>
              <a:rect r="r" b="b" t="t" l="l"/>
              <a:pathLst>
                <a:path h="726242" w="2683721">
                  <a:moveTo>
                    <a:pt x="52995" y="0"/>
                  </a:moveTo>
                  <a:lnTo>
                    <a:pt x="2630726" y="0"/>
                  </a:lnTo>
                  <a:cubicBezTo>
                    <a:pt x="2659994" y="0"/>
                    <a:pt x="2683721" y="23727"/>
                    <a:pt x="2683721" y="52995"/>
                  </a:cubicBezTo>
                  <a:lnTo>
                    <a:pt x="2683721" y="673247"/>
                  </a:lnTo>
                  <a:cubicBezTo>
                    <a:pt x="2683721" y="702516"/>
                    <a:pt x="2659994" y="726242"/>
                    <a:pt x="2630726" y="726242"/>
                  </a:cubicBezTo>
                  <a:lnTo>
                    <a:pt x="52995" y="726242"/>
                  </a:lnTo>
                  <a:cubicBezTo>
                    <a:pt x="23727" y="726242"/>
                    <a:pt x="0" y="702516"/>
                    <a:pt x="0" y="673247"/>
                  </a:cubicBezTo>
                  <a:lnTo>
                    <a:pt x="0" y="52995"/>
                  </a:lnTo>
                  <a:cubicBezTo>
                    <a:pt x="0" y="23727"/>
                    <a:pt x="23727" y="0"/>
                    <a:pt x="529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683721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798285" y="5826400"/>
            <a:ext cx="6735694" cy="1162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46"/>
              </a:lnSpc>
            </a:pPr>
            <a:r>
              <a:rPr lang="en-US" sz="2247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Return Prediction</a:t>
            </a:r>
          </a:p>
          <a:p>
            <a:pPr algn="just" marL="485190" indent="-242595" lvl="1">
              <a:lnSpc>
                <a:spcPts val="3146"/>
              </a:lnSpc>
              <a:buFont typeface="Arial"/>
              <a:buChar char="•"/>
            </a:pPr>
            <a:r>
              <a:rPr lang="en-US" sz="22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Random Forest Classifier</a:t>
            </a:r>
          </a:p>
          <a:p>
            <a:pPr algn="just" marL="485190" indent="-242595" lvl="1">
              <a:lnSpc>
                <a:spcPts val="3146"/>
              </a:lnSpc>
              <a:buFont typeface="Arial"/>
              <a:buChar char="•"/>
            </a:pPr>
            <a:r>
              <a:rPr lang="en-US" sz="22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76% accuracy predicting returns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396608" y="5411490"/>
            <a:ext cx="1864531" cy="2016186"/>
            <a:chOff x="0" y="0"/>
            <a:chExt cx="671615" cy="72624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1615" cy="726242"/>
            </a:xfrm>
            <a:custGeom>
              <a:avLst/>
              <a:gdLst/>
              <a:ahLst/>
              <a:cxnLst/>
              <a:rect r="r" b="b" t="t" l="l"/>
              <a:pathLst>
                <a:path h="726242" w="671615">
                  <a:moveTo>
                    <a:pt x="211763" y="0"/>
                  </a:moveTo>
                  <a:lnTo>
                    <a:pt x="459852" y="0"/>
                  </a:lnTo>
                  <a:cubicBezTo>
                    <a:pt x="516015" y="0"/>
                    <a:pt x="569878" y="22311"/>
                    <a:pt x="609591" y="62024"/>
                  </a:cubicBezTo>
                  <a:cubicBezTo>
                    <a:pt x="649304" y="101737"/>
                    <a:pt x="671615" y="155600"/>
                    <a:pt x="671615" y="211763"/>
                  </a:cubicBezTo>
                  <a:lnTo>
                    <a:pt x="671615" y="514479"/>
                  </a:lnTo>
                  <a:cubicBezTo>
                    <a:pt x="671615" y="631433"/>
                    <a:pt x="576805" y="726242"/>
                    <a:pt x="459852" y="726242"/>
                  </a:cubicBezTo>
                  <a:lnTo>
                    <a:pt x="211763" y="726242"/>
                  </a:lnTo>
                  <a:cubicBezTo>
                    <a:pt x="94809" y="726242"/>
                    <a:pt x="0" y="631433"/>
                    <a:pt x="0" y="514479"/>
                  </a:cubicBezTo>
                  <a:lnTo>
                    <a:pt x="0" y="211763"/>
                  </a:lnTo>
                  <a:cubicBezTo>
                    <a:pt x="0" y="94809"/>
                    <a:pt x="94809" y="0"/>
                    <a:pt x="21176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4751249" y="5796480"/>
            <a:ext cx="1155248" cy="113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12"/>
              </a:lnSpc>
            </a:pPr>
            <a:r>
              <a:rPr lang="en-US" b="true" sz="658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02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440871" y="7708229"/>
            <a:ext cx="7450521" cy="2016186"/>
            <a:chOff x="0" y="0"/>
            <a:chExt cx="2683721" cy="72624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83721" cy="726242"/>
            </a:xfrm>
            <a:custGeom>
              <a:avLst/>
              <a:gdLst/>
              <a:ahLst/>
              <a:cxnLst/>
              <a:rect r="r" b="b" t="t" l="l"/>
              <a:pathLst>
                <a:path h="726242" w="2683721">
                  <a:moveTo>
                    <a:pt x="52995" y="0"/>
                  </a:moveTo>
                  <a:lnTo>
                    <a:pt x="2630726" y="0"/>
                  </a:lnTo>
                  <a:cubicBezTo>
                    <a:pt x="2659994" y="0"/>
                    <a:pt x="2683721" y="23727"/>
                    <a:pt x="2683721" y="52995"/>
                  </a:cubicBezTo>
                  <a:lnTo>
                    <a:pt x="2683721" y="673247"/>
                  </a:lnTo>
                  <a:cubicBezTo>
                    <a:pt x="2683721" y="702516"/>
                    <a:pt x="2659994" y="726242"/>
                    <a:pt x="2630726" y="726242"/>
                  </a:cubicBezTo>
                  <a:lnTo>
                    <a:pt x="52995" y="726242"/>
                  </a:lnTo>
                  <a:cubicBezTo>
                    <a:pt x="23727" y="726242"/>
                    <a:pt x="0" y="702516"/>
                    <a:pt x="0" y="673247"/>
                  </a:cubicBezTo>
                  <a:lnTo>
                    <a:pt x="0" y="52995"/>
                  </a:lnTo>
                  <a:cubicBezTo>
                    <a:pt x="0" y="23727"/>
                    <a:pt x="23727" y="0"/>
                    <a:pt x="529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683721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798285" y="8111450"/>
            <a:ext cx="6735694" cy="1162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46"/>
              </a:lnSpc>
            </a:pPr>
            <a:r>
              <a:rPr lang="en-US" sz="2247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Anomaly Detection</a:t>
            </a:r>
          </a:p>
          <a:p>
            <a:pPr algn="just" marL="485190" indent="-242595" lvl="1">
              <a:lnSpc>
                <a:spcPts val="3146"/>
              </a:lnSpc>
              <a:buFont typeface="Arial"/>
              <a:buChar char="•"/>
            </a:pPr>
            <a:r>
              <a:rPr lang="en-US" sz="22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Isolation Forest</a:t>
            </a:r>
          </a:p>
          <a:p>
            <a:pPr algn="just" marL="485190" indent="-242595" lvl="1">
              <a:lnSpc>
                <a:spcPts val="3146"/>
              </a:lnSpc>
              <a:buFont typeface="Arial"/>
              <a:buChar char="•"/>
            </a:pPr>
            <a:r>
              <a:rPr lang="en-US" sz="22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5% of transactions flagged as unusual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4396608" y="7696540"/>
            <a:ext cx="1864531" cy="2016186"/>
            <a:chOff x="0" y="0"/>
            <a:chExt cx="671615" cy="72624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1615" cy="726242"/>
            </a:xfrm>
            <a:custGeom>
              <a:avLst/>
              <a:gdLst/>
              <a:ahLst/>
              <a:cxnLst/>
              <a:rect r="r" b="b" t="t" l="l"/>
              <a:pathLst>
                <a:path h="726242" w="671615">
                  <a:moveTo>
                    <a:pt x="211763" y="0"/>
                  </a:moveTo>
                  <a:lnTo>
                    <a:pt x="459852" y="0"/>
                  </a:lnTo>
                  <a:cubicBezTo>
                    <a:pt x="516015" y="0"/>
                    <a:pt x="569878" y="22311"/>
                    <a:pt x="609591" y="62024"/>
                  </a:cubicBezTo>
                  <a:cubicBezTo>
                    <a:pt x="649304" y="101737"/>
                    <a:pt x="671615" y="155600"/>
                    <a:pt x="671615" y="211763"/>
                  </a:cubicBezTo>
                  <a:lnTo>
                    <a:pt x="671615" y="514479"/>
                  </a:lnTo>
                  <a:cubicBezTo>
                    <a:pt x="671615" y="631433"/>
                    <a:pt x="576805" y="726242"/>
                    <a:pt x="459852" y="726242"/>
                  </a:cubicBezTo>
                  <a:lnTo>
                    <a:pt x="211763" y="726242"/>
                  </a:lnTo>
                  <a:cubicBezTo>
                    <a:pt x="94809" y="726242"/>
                    <a:pt x="0" y="631433"/>
                    <a:pt x="0" y="514479"/>
                  </a:cubicBezTo>
                  <a:lnTo>
                    <a:pt x="0" y="211763"/>
                  </a:lnTo>
                  <a:cubicBezTo>
                    <a:pt x="0" y="94809"/>
                    <a:pt x="94809" y="0"/>
                    <a:pt x="21176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4751249" y="8081531"/>
            <a:ext cx="1155248" cy="113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12"/>
              </a:lnSpc>
            </a:pPr>
            <a:r>
              <a:rPr lang="en-US" b="true" sz="658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744950" y="641958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7100117" y="6774749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7"/>
                </a:lnTo>
                <a:lnTo>
                  <a:pt x="0" y="34044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4580160" y="8704633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7513083" y="7187716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3"/>
                </a:lnTo>
                <a:lnTo>
                  <a:pt x="0" y="25785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129385" y="1281764"/>
            <a:ext cx="14948117" cy="1035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0"/>
              </a:lnSpc>
            </a:pPr>
            <a:r>
              <a:rPr lang="en-US" b="true" sz="61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BUSINESS INTELLIGENCE DASHBOARDS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440871" y="3137618"/>
            <a:ext cx="7450521" cy="2016186"/>
            <a:chOff x="0" y="0"/>
            <a:chExt cx="2683721" cy="7262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683721" cy="726242"/>
            </a:xfrm>
            <a:custGeom>
              <a:avLst/>
              <a:gdLst/>
              <a:ahLst/>
              <a:cxnLst/>
              <a:rect r="r" b="b" t="t" l="l"/>
              <a:pathLst>
                <a:path h="726242" w="2683721">
                  <a:moveTo>
                    <a:pt x="52995" y="0"/>
                  </a:moveTo>
                  <a:lnTo>
                    <a:pt x="2630726" y="0"/>
                  </a:lnTo>
                  <a:cubicBezTo>
                    <a:pt x="2659994" y="0"/>
                    <a:pt x="2683721" y="23727"/>
                    <a:pt x="2683721" y="52995"/>
                  </a:cubicBezTo>
                  <a:lnTo>
                    <a:pt x="2683721" y="673247"/>
                  </a:lnTo>
                  <a:cubicBezTo>
                    <a:pt x="2683721" y="702516"/>
                    <a:pt x="2659994" y="726242"/>
                    <a:pt x="2630726" y="726242"/>
                  </a:cubicBezTo>
                  <a:lnTo>
                    <a:pt x="52995" y="726242"/>
                  </a:lnTo>
                  <a:cubicBezTo>
                    <a:pt x="23727" y="726242"/>
                    <a:pt x="0" y="702516"/>
                    <a:pt x="0" y="673247"/>
                  </a:cubicBezTo>
                  <a:lnTo>
                    <a:pt x="0" y="52995"/>
                  </a:lnTo>
                  <a:cubicBezTo>
                    <a:pt x="0" y="23727"/>
                    <a:pt x="23727" y="0"/>
                    <a:pt x="529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683721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798285" y="3476704"/>
            <a:ext cx="6735694" cy="128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6"/>
              </a:lnSpc>
            </a:pPr>
            <a:r>
              <a:rPr lang="en-US" sz="2447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Executive Summary</a:t>
            </a:r>
          </a:p>
          <a:p>
            <a:pPr algn="just">
              <a:lnSpc>
                <a:spcPts val="3426"/>
              </a:lnSpc>
            </a:pPr>
            <a:r>
              <a:rPr lang="en-US" sz="24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Highlights KPIs, revenue trends, top products, and key sales channels.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4396608" y="3125929"/>
            <a:ext cx="1864531" cy="2016186"/>
            <a:chOff x="0" y="0"/>
            <a:chExt cx="671615" cy="72624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71615" cy="726242"/>
            </a:xfrm>
            <a:custGeom>
              <a:avLst/>
              <a:gdLst/>
              <a:ahLst/>
              <a:cxnLst/>
              <a:rect r="r" b="b" t="t" l="l"/>
              <a:pathLst>
                <a:path h="726242" w="671615">
                  <a:moveTo>
                    <a:pt x="211763" y="0"/>
                  </a:moveTo>
                  <a:lnTo>
                    <a:pt x="459852" y="0"/>
                  </a:lnTo>
                  <a:cubicBezTo>
                    <a:pt x="516015" y="0"/>
                    <a:pt x="569878" y="22311"/>
                    <a:pt x="609591" y="62024"/>
                  </a:cubicBezTo>
                  <a:cubicBezTo>
                    <a:pt x="649304" y="101737"/>
                    <a:pt x="671615" y="155600"/>
                    <a:pt x="671615" y="211763"/>
                  </a:cubicBezTo>
                  <a:lnTo>
                    <a:pt x="671615" y="514479"/>
                  </a:lnTo>
                  <a:cubicBezTo>
                    <a:pt x="671615" y="631433"/>
                    <a:pt x="576805" y="726242"/>
                    <a:pt x="459852" y="726242"/>
                  </a:cubicBezTo>
                  <a:lnTo>
                    <a:pt x="211763" y="726242"/>
                  </a:lnTo>
                  <a:cubicBezTo>
                    <a:pt x="94809" y="726242"/>
                    <a:pt x="0" y="631433"/>
                    <a:pt x="0" y="514479"/>
                  </a:cubicBezTo>
                  <a:lnTo>
                    <a:pt x="0" y="211763"/>
                  </a:lnTo>
                  <a:cubicBezTo>
                    <a:pt x="0" y="94809"/>
                    <a:pt x="94809" y="0"/>
                    <a:pt x="21176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4751249" y="3510919"/>
            <a:ext cx="1155248" cy="113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12"/>
              </a:lnSpc>
            </a:pPr>
            <a:r>
              <a:rPr lang="en-US" b="true" sz="658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01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440871" y="5423179"/>
            <a:ext cx="7450521" cy="2016186"/>
            <a:chOff x="0" y="0"/>
            <a:chExt cx="2683721" cy="72624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83721" cy="726242"/>
            </a:xfrm>
            <a:custGeom>
              <a:avLst/>
              <a:gdLst/>
              <a:ahLst/>
              <a:cxnLst/>
              <a:rect r="r" b="b" t="t" l="l"/>
              <a:pathLst>
                <a:path h="726242" w="2683721">
                  <a:moveTo>
                    <a:pt x="52995" y="0"/>
                  </a:moveTo>
                  <a:lnTo>
                    <a:pt x="2630726" y="0"/>
                  </a:lnTo>
                  <a:cubicBezTo>
                    <a:pt x="2659994" y="0"/>
                    <a:pt x="2683721" y="23727"/>
                    <a:pt x="2683721" y="52995"/>
                  </a:cubicBezTo>
                  <a:lnTo>
                    <a:pt x="2683721" y="673247"/>
                  </a:lnTo>
                  <a:cubicBezTo>
                    <a:pt x="2683721" y="702516"/>
                    <a:pt x="2659994" y="726242"/>
                    <a:pt x="2630726" y="726242"/>
                  </a:cubicBezTo>
                  <a:lnTo>
                    <a:pt x="52995" y="726242"/>
                  </a:lnTo>
                  <a:cubicBezTo>
                    <a:pt x="23727" y="726242"/>
                    <a:pt x="0" y="702516"/>
                    <a:pt x="0" y="673247"/>
                  </a:cubicBezTo>
                  <a:lnTo>
                    <a:pt x="0" y="52995"/>
                  </a:lnTo>
                  <a:cubicBezTo>
                    <a:pt x="0" y="23727"/>
                    <a:pt x="23727" y="0"/>
                    <a:pt x="529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683721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798285" y="5762265"/>
            <a:ext cx="6735694" cy="128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6"/>
              </a:lnSpc>
            </a:pPr>
            <a:r>
              <a:rPr lang="en-US" sz="2447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Sales Performance</a:t>
            </a:r>
          </a:p>
          <a:p>
            <a:pPr algn="just">
              <a:lnSpc>
                <a:spcPts val="3426"/>
              </a:lnSpc>
            </a:pPr>
            <a:r>
              <a:rPr lang="en-US" sz="24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</a:t>
            </a:r>
            <a:r>
              <a:rPr lang="en-US" sz="24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ncludes day-of-week analysis, discount impact, and customer ranking insights.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4396608" y="5411490"/>
            <a:ext cx="1864531" cy="2016186"/>
            <a:chOff x="0" y="0"/>
            <a:chExt cx="671615" cy="72624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1615" cy="726242"/>
            </a:xfrm>
            <a:custGeom>
              <a:avLst/>
              <a:gdLst/>
              <a:ahLst/>
              <a:cxnLst/>
              <a:rect r="r" b="b" t="t" l="l"/>
              <a:pathLst>
                <a:path h="726242" w="671615">
                  <a:moveTo>
                    <a:pt x="211763" y="0"/>
                  </a:moveTo>
                  <a:lnTo>
                    <a:pt x="459852" y="0"/>
                  </a:lnTo>
                  <a:cubicBezTo>
                    <a:pt x="516015" y="0"/>
                    <a:pt x="569878" y="22311"/>
                    <a:pt x="609591" y="62024"/>
                  </a:cubicBezTo>
                  <a:cubicBezTo>
                    <a:pt x="649304" y="101737"/>
                    <a:pt x="671615" y="155600"/>
                    <a:pt x="671615" y="211763"/>
                  </a:cubicBezTo>
                  <a:lnTo>
                    <a:pt x="671615" y="514479"/>
                  </a:lnTo>
                  <a:cubicBezTo>
                    <a:pt x="671615" y="631433"/>
                    <a:pt x="576805" y="726242"/>
                    <a:pt x="459852" y="726242"/>
                  </a:cubicBezTo>
                  <a:lnTo>
                    <a:pt x="211763" y="726242"/>
                  </a:lnTo>
                  <a:cubicBezTo>
                    <a:pt x="94809" y="726242"/>
                    <a:pt x="0" y="631433"/>
                    <a:pt x="0" y="514479"/>
                  </a:cubicBezTo>
                  <a:lnTo>
                    <a:pt x="0" y="211763"/>
                  </a:lnTo>
                  <a:cubicBezTo>
                    <a:pt x="0" y="94809"/>
                    <a:pt x="94809" y="0"/>
                    <a:pt x="21176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4751249" y="5796480"/>
            <a:ext cx="1155248" cy="113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12"/>
              </a:lnSpc>
            </a:pPr>
            <a:r>
              <a:rPr lang="en-US" b="true" sz="658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02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440871" y="7708229"/>
            <a:ext cx="7450521" cy="2016186"/>
            <a:chOff x="0" y="0"/>
            <a:chExt cx="2683721" cy="72624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83721" cy="726242"/>
            </a:xfrm>
            <a:custGeom>
              <a:avLst/>
              <a:gdLst/>
              <a:ahLst/>
              <a:cxnLst/>
              <a:rect r="r" b="b" t="t" l="l"/>
              <a:pathLst>
                <a:path h="726242" w="2683721">
                  <a:moveTo>
                    <a:pt x="52995" y="0"/>
                  </a:moveTo>
                  <a:lnTo>
                    <a:pt x="2630726" y="0"/>
                  </a:lnTo>
                  <a:cubicBezTo>
                    <a:pt x="2659994" y="0"/>
                    <a:pt x="2683721" y="23727"/>
                    <a:pt x="2683721" y="52995"/>
                  </a:cubicBezTo>
                  <a:lnTo>
                    <a:pt x="2683721" y="673247"/>
                  </a:lnTo>
                  <a:cubicBezTo>
                    <a:pt x="2683721" y="702516"/>
                    <a:pt x="2659994" y="726242"/>
                    <a:pt x="2630726" y="726242"/>
                  </a:cubicBezTo>
                  <a:lnTo>
                    <a:pt x="52995" y="726242"/>
                  </a:lnTo>
                  <a:cubicBezTo>
                    <a:pt x="23727" y="726242"/>
                    <a:pt x="0" y="702516"/>
                    <a:pt x="0" y="673247"/>
                  </a:cubicBezTo>
                  <a:lnTo>
                    <a:pt x="0" y="52995"/>
                  </a:lnTo>
                  <a:cubicBezTo>
                    <a:pt x="0" y="23727"/>
                    <a:pt x="23727" y="0"/>
                    <a:pt x="5299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683721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798285" y="7977436"/>
            <a:ext cx="6735694" cy="1280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6"/>
              </a:lnSpc>
            </a:pPr>
            <a:r>
              <a:rPr lang="en-US" sz="2447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ML Performance</a:t>
            </a:r>
          </a:p>
          <a:p>
            <a:pPr algn="just">
              <a:lnSpc>
                <a:spcPts val="3426"/>
              </a:lnSpc>
            </a:pPr>
            <a:r>
              <a:rPr lang="en-US" sz="2447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Shows model accuracy, segmentation visuals, and predictions.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4396608" y="7696540"/>
            <a:ext cx="1864531" cy="2016186"/>
            <a:chOff x="0" y="0"/>
            <a:chExt cx="671615" cy="72624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1615" cy="726242"/>
            </a:xfrm>
            <a:custGeom>
              <a:avLst/>
              <a:gdLst/>
              <a:ahLst/>
              <a:cxnLst/>
              <a:rect r="r" b="b" t="t" l="l"/>
              <a:pathLst>
                <a:path h="726242" w="671615">
                  <a:moveTo>
                    <a:pt x="211763" y="0"/>
                  </a:moveTo>
                  <a:lnTo>
                    <a:pt x="459852" y="0"/>
                  </a:lnTo>
                  <a:cubicBezTo>
                    <a:pt x="516015" y="0"/>
                    <a:pt x="569878" y="22311"/>
                    <a:pt x="609591" y="62024"/>
                  </a:cubicBezTo>
                  <a:cubicBezTo>
                    <a:pt x="649304" y="101737"/>
                    <a:pt x="671615" y="155600"/>
                    <a:pt x="671615" y="211763"/>
                  </a:cubicBezTo>
                  <a:lnTo>
                    <a:pt x="671615" y="514479"/>
                  </a:lnTo>
                  <a:cubicBezTo>
                    <a:pt x="671615" y="631433"/>
                    <a:pt x="576805" y="726242"/>
                    <a:pt x="459852" y="726242"/>
                  </a:cubicBezTo>
                  <a:lnTo>
                    <a:pt x="211763" y="726242"/>
                  </a:lnTo>
                  <a:cubicBezTo>
                    <a:pt x="94809" y="726242"/>
                    <a:pt x="0" y="631433"/>
                    <a:pt x="0" y="514479"/>
                  </a:cubicBezTo>
                  <a:lnTo>
                    <a:pt x="0" y="211763"/>
                  </a:lnTo>
                  <a:cubicBezTo>
                    <a:pt x="0" y="94809"/>
                    <a:pt x="94809" y="0"/>
                    <a:pt x="21176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71615" cy="7643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4751249" y="8081531"/>
            <a:ext cx="1155248" cy="113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12"/>
              </a:lnSpc>
            </a:pPr>
            <a:r>
              <a:rPr lang="en-US" b="true" sz="658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03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548513" y="2260288"/>
            <a:ext cx="7636216" cy="423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6"/>
              </a:lnSpc>
            </a:pPr>
            <a:r>
              <a:rPr lang="en-US" sz="2447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Report </a:t>
            </a:r>
            <a:r>
              <a:rPr lang="en-US" sz="2447" i="true">
                <a:solidFill>
                  <a:srgbClr val="000000"/>
                </a:solidFill>
                <a:latin typeface="Nunito Italics"/>
                <a:ea typeface="Nunito Italics"/>
                <a:cs typeface="Nunito Italics"/>
                <a:sym typeface="Nunito Italics"/>
              </a:rPr>
              <a:t>generation time reduced from hours to minutes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028700" y="5225620"/>
            <a:ext cx="13978813" cy="3739332"/>
          </a:xfrm>
          <a:custGeom>
            <a:avLst/>
            <a:gdLst/>
            <a:ahLst/>
            <a:cxnLst/>
            <a:rect r="r" b="b" t="t" l="l"/>
            <a:pathLst>
              <a:path h="3739332" w="13978813">
                <a:moveTo>
                  <a:pt x="0" y="0"/>
                </a:moveTo>
                <a:lnTo>
                  <a:pt x="13978813" y="0"/>
                </a:lnTo>
                <a:lnTo>
                  <a:pt x="13978813" y="3739332"/>
                </a:lnTo>
                <a:lnTo>
                  <a:pt x="0" y="373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156197" y="1522337"/>
            <a:ext cx="7975606" cy="2377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80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MEASURABLE BENEFITS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4488872"/>
            <a:ext cx="5306252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59"/>
              </a:lnSpc>
            </a:pPr>
            <a:r>
              <a:rPr lang="en-US" sz="28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Before vs After Implementation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541140" y="1230454"/>
            <a:ext cx="988660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BUSINESS IMPACT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42519" y="3757295"/>
            <a:ext cx="5988081" cy="3641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Revenue Optimization</a:t>
            </a:r>
          </a:p>
          <a:p>
            <a:pPr algn="l">
              <a:lnSpc>
                <a:spcPts val="1399"/>
              </a:lnSpc>
            </a:pPr>
            <a:r>
              <a:rPr lang="en-US" sz="27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Replicate March success with a 12% boost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Focus on field sales, the 61.5% revenue driver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Leverage MidasHome brand strength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2194" y="2589581"/>
            <a:ext cx="8640466" cy="609949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541140" y="1230454"/>
            <a:ext cx="988660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BUSINESS IMPACT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42519" y="4020862"/>
            <a:ext cx="5988081" cy="265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Marketing Efficiency</a:t>
            </a:r>
          </a:p>
          <a:p>
            <a:pPr algn="l">
              <a:lnSpc>
                <a:spcPts val="1399"/>
              </a:lnSpc>
            </a:pPr>
            <a:r>
              <a:rPr lang="en-US" sz="27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arget 3 key customer segments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Email campaigns delivering 790% ROI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</a:t>
            </a: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educe wasted ad spend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2194" y="2589581"/>
            <a:ext cx="8640466" cy="60994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541140" y="1230454"/>
            <a:ext cx="988660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BUSINESS IMPACT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42519" y="4218538"/>
            <a:ext cx="5988081" cy="2155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Inventory Management </a:t>
            </a:r>
          </a:p>
          <a:p>
            <a:pPr algn="l">
              <a:lnSpc>
                <a:spcPts val="1399"/>
              </a:lnSpc>
            </a:pPr>
            <a:r>
              <a:rPr lang="en-US" sz="27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Sto</a:t>
            </a: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ck top 5 products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Reduce high-return items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Predict demand by channel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2194" y="2589581"/>
            <a:ext cx="8640466" cy="609949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541140" y="1230454"/>
            <a:ext cx="9886602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BUSINESS IMPACT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42519" y="4020862"/>
            <a:ext cx="5988081" cy="265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Risk Reduction</a:t>
            </a:r>
          </a:p>
          <a:p>
            <a:pPr algn="l">
              <a:lnSpc>
                <a:spcPts val="1399"/>
              </a:lnSpc>
            </a:pPr>
            <a:r>
              <a:rPr lang="en-US" sz="2799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 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</a:t>
            </a: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edict 76% of returns early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Automatically flag 5% of anomalies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En</a:t>
            </a: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able proactive quality control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982194" y="2589581"/>
            <a:ext cx="8640466" cy="609949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364747" y="1916254"/>
            <a:ext cx="9558507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599"/>
              </a:lnSpc>
            </a:pPr>
            <a:r>
              <a:rPr lang="en-US" b="true" sz="9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CONCLUSION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384491" y="3752635"/>
            <a:ext cx="13519019" cy="5050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06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Built a complete data warehouse solution for Midas Electronics.</a:t>
            </a:r>
          </a:p>
          <a:p>
            <a:pPr algn="l" marL="604519" indent="-302260" lvl="1">
              <a:lnSpc>
                <a:spcPts val="506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Integrated multiple data sources into a centralized Star Schema database.</a:t>
            </a:r>
          </a:p>
          <a:p>
            <a:pPr algn="l" marL="604519" indent="-302260" lvl="1">
              <a:lnSpc>
                <a:spcPts val="506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Implemented advanced analytics using OLAP operations and machine learning.</a:t>
            </a:r>
          </a:p>
          <a:p>
            <a:pPr algn="l" marL="604519" indent="-302260" lvl="1">
              <a:lnSpc>
                <a:spcPts val="506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Delivered actionable business insights through automated dashboards.</a:t>
            </a:r>
          </a:p>
          <a:p>
            <a:pPr algn="l" marL="604519" indent="-302260" lvl="1">
              <a:lnSpc>
                <a:spcPts val="506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Enabled faster, smarter, data-driven decision-making.</a:t>
            </a:r>
          </a:p>
          <a:p>
            <a:pPr algn="l" marL="604519" indent="-302260" lvl="1">
              <a:lnSpc>
                <a:spcPts val="506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Achieved 76% return prediction accuracy.</a:t>
            </a:r>
          </a:p>
          <a:p>
            <a:pPr algn="l" marL="604519" indent="-302260" lvl="1">
              <a:lnSpc>
                <a:spcPts val="506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Provided clear customer segmentation.</a:t>
            </a:r>
          </a:p>
          <a:p>
            <a:pPr algn="l" marL="604519" indent="-302260" lvl="1">
              <a:lnSpc>
                <a:spcPts val="5067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Enabled real-time performance monitoring.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57400" y="-125896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02233" y="-903796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30600" y="720090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85767" y="7556067"/>
            <a:ext cx="3404467" cy="3404467"/>
          </a:xfrm>
          <a:custGeom>
            <a:avLst/>
            <a:gdLst/>
            <a:ahLst/>
            <a:cxnLst/>
            <a:rect r="r" b="b" t="t" l="l"/>
            <a:pathLst>
              <a:path h="3404467" w="3404467">
                <a:moveTo>
                  <a:pt x="0" y="0"/>
                </a:moveTo>
                <a:lnTo>
                  <a:pt x="3404466" y="0"/>
                </a:lnTo>
                <a:lnTo>
                  <a:pt x="3404466" y="3404466"/>
                </a:lnTo>
                <a:lnTo>
                  <a:pt x="0" y="34044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2319137" y="9258300"/>
            <a:ext cx="3911463" cy="391146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998733" y="7969033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89267" y="-490830"/>
            <a:ext cx="2578533" cy="2578533"/>
          </a:xfrm>
          <a:custGeom>
            <a:avLst/>
            <a:gdLst/>
            <a:ahLst/>
            <a:cxnLst/>
            <a:rect r="r" b="b" t="t" l="l"/>
            <a:pathLst>
              <a:path h="2578533" w="2578533">
                <a:moveTo>
                  <a:pt x="0" y="0"/>
                </a:moveTo>
                <a:lnTo>
                  <a:pt x="2578534" y="0"/>
                </a:lnTo>
                <a:lnTo>
                  <a:pt x="2578534" y="2578534"/>
                </a:lnTo>
                <a:lnTo>
                  <a:pt x="0" y="25785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129385" y="-2859528"/>
            <a:ext cx="3911463" cy="391146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7464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013131" y="3908425"/>
            <a:ext cx="10261737" cy="22225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199"/>
              </a:lnSpc>
            </a:pPr>
            <a:r>
              <a:rPr lang="en-US" b="true" sz="12999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DAG4an76Qm0</dc:identifier>
  <dcterms:modified xsi:type="dcterms:W3CDTF">2011-08-01T06:04:30Z</dcterms:modified>
  <cp:revision>1</cp:revision>
  <dc:title>DWM Presentation</dc:title>
</cp:coreProperties>
</file>